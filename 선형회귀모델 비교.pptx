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6469A-46C4-472E-A3FA-47EB9D19B9F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DC5-E6CC-428D-B7F5-5F01CF032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375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6469A-46C4-472E-A3FA-47EB9D19B9F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DC5-E6CC-428D-B7F5-5F01CF032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436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6469A-46C4-472E-A3FA-47EB9D19B9F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DC5-E6CC-428D-B7F5-5F01CF032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690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6469A-46C4-472E-A3FA-47EB9D19B9F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DC5-E6CC-428D-B7F5-5F01CF032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402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6469A-46C4-472E-A3FA-47EB9D19B9F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DC5-E6CC-428D-B7F5-5F01CF032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240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6469A-46C4-472E-A3FA-47EB9D19B9F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DC5-E6CC-428D-B7F5-5F01CF032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44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6469A-46C4-472E-A3FA-47EB9D19B9F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DC5-E6CC-428D-B7F5-5F01CF032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094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6469A-46C4-472E-A3FA-47EB9D19B9F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DC5-E6CC-428D-B7F5-5F01CF032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687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6469A-46C4-472E-A3FA-47EB9D19B9F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DC5-E6CC-428D-B7F5-5F01CF032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907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6469A-46C4-472E-A3FA-47EB9D19B9F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DC5-E6CC-428D-B7F5-5F01CF032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805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6469A-46C4-472E-A3FA-47EB9D19B9F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DC5-E6CC-428D-B7F5-5F01CF032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0975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A6469A-46C4-472E-A3FA-47EB9D19B9F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07DC5-E6CC-428D-B7F5-5F01CF032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843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mtClean="0"/>
              <a:t>선형회귀모델 비교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mtClean="0"/>
              <a:t>2024-01-01~2025-11-26 </a:t>
            </a:r>
            <a:r>
              <a:rPr lang="ko-KR" altLang="en-US" smtClean="0"/>
              <a:t>전국 미세먼지 데이터</a:t>
            </a:r>
            <a:endParaRPr lang="en-US" altLang="ko-KR" smtClean="0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2085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70919" y="362465"/>
            <a:ext cx="10602097" cy="510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데이터세트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070919" y="939114"/>
            <a:ext cx="10602097" cy="510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출처 </a:t>
            </a:r>
            <a:r>
              <a:rPr lang="en-US" altLang="ko-KR" smtClean="0">
                <a:solidFill>
                  <a:schemeClr val="tx1"/>
                </a:solidFill>
              </a:rPr>
              <a:t>: airkorea - </a:t>
            </a:r>
            <a:r>
              <a:rPr lang="en-US" altLang="ko-KR" b="1" u="sng" smtClean="0">
                <a:solidFill>
                  <a:srgbClr val="FF0000"/>
                </a:solidFill>
              </a:rPr>
              <a:t>PM10</a:t>
            </a:r>
            <a:r>
              <a:rPr lang="en-US" altLang="ko-KR" smtClean="0">
                <a:solidFill>
                  <a:schemeClr val="tx1"/>
                </a:solidFill>
              </a:rPr>
              <a:t>,PM2.5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70919" y="1556953"/>
            <a:ext cx="10602097" cy="510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데이터 구조</a:t>
            </a:r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355" y="2174792"/>
            <a:ext cx="9289224" cy="411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231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70919" y="362465"/>
            <a:ext cx="10602097" cy="510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데이터전처리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070919" y="1062680"/>
            <a:ext cx="10602097" cy="9391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smtClean="0">
                <a:solidFill>
                  <a:schemeClr val="tx1"/>
                </a:solidFill>
              </a:rPr>
              <a:t>필요성 </a:t>
            </a:r>
            <a:endParaRPr lang="en-US" altLang="ko-KR" sz="1050" smtClean="0">
              <a:solidFill>
                <a:schemeClr val="tx1"/>
              </a:solidFill>
            </a:endParaRPr>
          </a:p>
          <a:p>
            <a:r>
              <a:rPr lang="ko-KR" altLang="en-US" sz="800" smtClean="0">
                <a:solidFill>
                  <a:schemeClr val="tx1"/>
                </a:solidFill>
              </a:rPr>
              <a:t>시간별 데이터가 </a:t>
            </a:r>
            <a:r>
              <a:rPr lang="en-US" altLang="ko-KR" sz="800" smtClean="0">
                <a:solidFill>
                  <a:schemeClr val="tx1"/>
                </a:solidFill>
              </a:rPr>
              <a:t>1</a:t>
            </a:r>
            <a:r>
              <a:rPr lang="ko-KR" altLang="en-US" sz="800" smtClean="0">
                <a:solidFill>
                  <a:schemeClr val="tx1"/>
                </a:solidFill>
              </a:rPr>
              <a:t>시</a:t>
            </a:r>
            <a:r>
              <a:rPr lang="en-US" altLang="ko-KR" sz="800" smtClean="0">
                <a:solidFill>
                  <a:schemeClr val="tx1"/>
                </a:solidFill>
              </a:rPr>
              <a:t>, 2</a:t>
            </a:r>
            <a:r>
              <a:rPr lang="ko-KR" altLang="en-US" sz="800" smtClean="0">
                <a:solidFill>
                  <a:schemeClr val="tx1"/>
                </a:solidFill>
              </a:rPr>
              <a:t>시</a:t>
            </a:r>
            <a:r>
              <a:rPr lang="en-US" altLang="ko-KR" sz="800" smtClean="0">
                <a:solidFill>
                  <a:schemeClr val="tx1"/>
                </a:solidFill>
              </a:rPr>
              <a:t>, … 24</a:t>
            </a:r>
            <a:r>
              <a:rPr lang="ko-KR" altLang="en-US" sz="800" smtClean="0">
                <a:solidFill>
                  <a:schemeClr val="tx1"/>
                </a:solidFill>
              </a:rPr>
              <a:t>시처럼 가로</a:t>
            </a:r>
            <a:r>
              <a:rPr lang="en-US" altLang="ko-KR" sz="800" smtClean="0">
                <a:solidFill>
                  <a:schemeClr val="tx1"/>
                </a:solidFill>
              </a:rPr>
              <a:t>(wide) </a:t>
            </a:r>
            <a:r>
              <a:rPr lang="ko-KR" altLang="en-US" sz="800" smtClean="0">
                <a:solidFill>
                  <a:schemeClr val="tx1"/>
                </a:solidFill>
              </a:rPr>
              <a:t>형태로 존재</a:t>
            </a:r>
          </a:p>
          <a:p>
            <a:r>
              <a:rPr lang="ko-KR" altLang="en-US" sz="800" smtClean="0">
                <a:solidFill>
                  <a:schemeClr val="tx1"/>
                </a:solidFill>
              </a:rPr>
              <a:t>결측치가 </a:t>
            </a:r>
            <a:r>
              <a:rPr lang="en-US" altLang="ko-KR" sz="800" smtClean="0">
                <a:solidFill>
                  <a:schemeClr val="tx1"/>
                </a:solidFill>
              </a:rPr>
              <a:t>- </a:t>
            </a:r>
            <a:r>
              <a:rPr lang="ko-KR" altLang="en-US" sz="800" smtClean="0">
                <a:solidFill>
                  <a:schemeClr val="tx1"/>
                </a:solidFill>
              </a:rPr>
              <a:t>등 문자로 포함됨</a:t>
            </a:r>
          </a:p>
          <a:p>
            <a:r>
              <a:rPr lang="ko-KR" altLang="en-US" sz="800" smtClean="0">
                <a:solidFill>
                  <a:schemeClr val="tx1"/>
                </a:solidFill>
              </a:rPr>
              <a:t>측정소 정보가 여러 컬럼</a:t>
            </a:r>
            <a:r>
              <a:rPr lang="en-US" altLang="ko-KR" sz="800" smtClean="0">
                <a:solidFill>
                  <a:schemeClr val="tx1"/>
                </a:solidFill>
              </a:rPr>
              <a:t>(</a:t>
            </a:r>
            <a:r>
              <a:rPr lang="ko-KR" altLang="en-US" sz="800" smtClean="0">
                <a:solidFill>
                  <a:schemeClr val="tx1"/>
                </a:solidFill>
              </a:rPr>
              <a:t>지점</a:t>
            </a:r>
            <a:r>
              <a:rPr lang="en-US" altLang="ko-KR" sz="800" smtClean="0">
                <a:solidFill>
                  <a:schemeClr val="tx1"/>
                </a:solidFill>
              </a:rPr>
              <a:t>ID, </a:t>
            </a:r>
            <a:r>
              <a:rPr lang="ko-KR" altLang="en-US" sz="800" smtClean="0">
                <a:solidFill>
                  <a:schemeClr val="tx1"/>
                </a:solidFill>
              </a:rPr>
              <a:t>측정소명</a:t>
            </a:r>
            <a:r>
              <a:rPr lang="en-US" altLang="ko-KR" sz="800" smtClean="0">
                <a:solidFill>
                  <a:schemeClr val="tx1"/>
                </a:solidFill>
              </a:rPr>
              <a:t>, </a:t>
            </a:r>
            <a:r>
              <a:rPr lang="ko-KR" altLang="en-US" sz="800" smtClean="0">
                <a:solidFill>
                  <a:schemeClr val="tx1"/>
                </a:solidFill>
              </a:rPr>
              <a:t>지점 등</a:t>
            </a:r>
            <a:r>
              <a:rPr lang="en-US" altLang="ko-KR" sz="800" smtClean="0">
                <a:solidFill>
                  <a:schemeClr val="tx1"/>
                </a:solidFill>
              </a:rPr>
              <a:t>)</a:t>
            </a:r>
            <a:r>
              <a:rPr lang="ko-KR" altLang="en-US" sz="800" smtClean="0">
                <a:solidFill>
                  <a:schemeClr val="tx1"/>
                </a:solidFill>
              </a:rPr>
              <a:t>에 흩어져 있음</a:t>
            </a:r>
          </a:p>
          <a:p>
            <a:r>
              <a:rPr lang="ko-KR" altLang="en-US" sz="800" smtClean="0">
                <a:solidFill>
                  <a:schemeClr val="tx1"/>
                </a:solidFill>
              </a:rPr>
              <a:t>예측 모델에 필요한 시계열 정보</a:t>
            </a:r>
            <a:r>
              <a:rPr lang="en-US" altLang="ko-KR" sz="800" smtClean="0">
                <a:solidFill>
                  <a:schemeClr val="tx1"/>
                </a:solidFill>
              </a:rPr>
              <a:t>(lag, rolling) </a:t>
            </a:r>
            <a:r>
              <a:rPr lang="ko-KR" altLang="en-US" sz="800" smtClean="0">
                <a:solidFill>
                  <a:schemeClr val="tx1"/>
                </a:solidFill>
              </a:rPr>
              <a:t>부재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070919" y="2191261"/>
            <a:ext cx="10602097" cy="444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smtClean="0">
                <a:solidFill>
                  <a:schemeClr val="tx1"/>
                </a:solidFill>
              </a:rPr>
              <a:t>구조 변환</a:t>
            </a:r>
            <a:endParaRPr lang="en-US" altLang="ko-KR" sz="1050" smtClean="0">
              <a:solidFill>
                <a:schemeClr val="tx1"/>
              </a:solidFill>
            </a:endParaRPr>
          </a:p>
          <a:p>
            <a:r>
              <a:rPr lang="ko-KR" altLang="en-US" sz="800" smtClean="0">
                <a:solidFill>
                  <a:schemeClr val="tx1"/>
                </a:solidFill>
              </a:rPr>
              <a:t>데이터를 </a:t>
            </a:r>
            <a:r>
              <a:rPr lang="en-US" altLang="ko-KR" sz="800" smtClean="0">
                <a:solidFill>
                  <a:schemeClr val="tx1"/>
                </a:solidFill>
              </a:rPr>
              <a:t>date, station, hour, pm10 </a:t>
            </a:r>
            <a:r>
              <a:rPr lang="ko-KR" altLang="en-US" sz="800" smtClean="0">
                <a:solidFill>
                  <a:schemeClr val="tx1"/>
                </a:solidFill>
              </a:rPr>
              <a:t>형태로 역피봇</a:t>
            </a:r>
            <a:endParaRPr lang="en-US" altLang="ko-KR" sz="800" smtClean="0">
              <a:solidFill>
                <a:schemeClr val="tx1"/>
              </a:solidFill>
            </a:endParaRPr>
          </a:p>
          <a:p>
            <a:r>
              <a:rPr lang="ko-KR" altLang="en-US" sz="800" smtClean="0">
                <a:solidFill>
                  <a:schemeClr val="tx1"/>
                </a:solidFill>
              </a:rPr>
              <a:t>결측치 보간</a:t>
            </a:r>
            <a:r>
              <a:rPr lang="en-US" altLang="ko-KR" sz="800" smtClean="0">
                <a:solidFill>
                  <a:schemeClr val="tx1"/>
                </a:solidFill>
              </a:rPr>
              <a:t>, </a:t>
            </a:r>
            <a:r>
              <a:rPr lang="ko-KR" altLang="en-US" sz="800" smtClean="0">
                <a:solidFill>
                  <a:schemeClr val="tx1"/>
                </a:solidFill>
              </a:rPr>
              <a:t>시간단위 </a:t>
            </a:r>
            <a:r>
              <a:rPr lang="en-US" altLang="ko-KR" sz="800" smtClean="0">
                <a:solidFill>
                  <a:schemeClr val="tx1"/>
                </a:solidFill>
              </a:rPr>
              <a:t>= “1</a:t>
            </a:r>
            <a:r>
              <a:rPr lang="ko-KR" altLang="en-US" sz="800" smtClean="0">
                <a:solidFill>
                  <a:schemeClr val="tx1"/>
                </a:solidFill>
              </a:rPr>
              <a:t>시</a:t>
            </a:r>
            <a:r>
              <a:rPr lang="en-US" altLang="ko-KR" sz="800" smtClean="0">
                <a:solidFill>
                  <a:schemeClr val="tx1"/>
                </a:solidFill>
              </a:rPr>
              <a:t>”-&gt;1 int </a:t>
            </a:r>
            <a:r>
              <a:rPr lang="ko-KR" altLang="en-US" sz="800" smtClean="0">
                <a:solidFill>
                  <a:schemeClr val="tx1"/>
                </a:solidFill>
              </a:rPr>
              <a:t>변환</a:t>
            </a:r>
            <a:endParaRPr lang="en-US" altLang="ko-KR" sz="800" smtClean="0">
              <a:solidFill>
                <a:schemeClr val="tx1"/>
              </a:solidFill>
            </a:endParaRPr>
          </a:p>
          <a:p>
            <a:endParaRPr lang="en-US" altLang="ko-KR" sz="1050" smtClean="0">
              <a:solidFill>
                <a:schemeClr val="tx1"/>
              </a:solidFill>
            </a:endParaRPr>
          </a:p>
          <a:p>
            <a:r>
              <a:rPr lang="ko-KR" altLang="en-US" sz="1050" smtClean="0">
                <a:solidFill>
                  <a:schemeClr val="tx1"/>
                </a:solidFill>
              </a:rPr>
              <a:t>결측치 보간</a:t>
            </a:r>
            <a:endParaRPr lang="en-US" altLang="ko-KR" sz="1050">
              <a:solidFill>
                <a:schemeClr val="tx1"/>
              </a:solidFill>
            </a:endParaRPr>
          </a:p>
          <a:p>
            <a:r>
              <a:rPr lang="en-US" altLang="ko-KR" sz="800" smtClean="0">
                <a:solidFill>
                  <a:schemeClr val="tx1"/>
                </a:solidFill>
              </a:rPr>
              <a:t>3</a:t>
            </a:r>
            <a:r>
              <a:rPr lang="ko-KR" altLang="en-US" sz="800" smtClean="0">
                <a:solidFill>
                  <a:schemeClr val="tx1"/>
                </a:solidFill>
              </a:rPr>
              <a:t>시 값이 비어있는 경우 </a:t>
            </a:r>
            <a:r>
              <a:rPr lang="en-US" altLang="ko-KR" sz="800" smtClean="0">
                <a:solidFill>
                  <a:schemeClr val="tx1"/>
                </a:solidFill>
              </a:rPr>
              <a:t>2</a:t>
            </a:r>
            <a:r>
              <a:rPr lang="ko-KR" altLang="en-US" sz="800" smtClean="0">
                <a:solidFill>
                  <a:schemeClr val="tx1"/>
                </a:solidFill>
              </a:rPr>
              <a:t>시</a:t>
            </a:r>
            <a:r>
              <a:rPr lang="en-US" altLang="ko-KR" sz="800" smtClean="0">
                <a:solidFill>
                  <a:schemeClr val="tx1"/>
                </a:solidFill>
              </a:rPr>
              <a:t>-&gt;4</a:t>
            </a:r>
            <a:r>
              <a:rPr lang="ko-KR" altLang="en-US" sz="800" smtClean="0">
                <a:solidFill>
                  <a:schemeClr val="tx1"/>
                </a:solidFill>
              </a:rPr>
              <a:t>시 사이 데이터의 평균값을 넣어 결측 보완</a:t>
            </a:r>
            <a:endParaRPr lang="en-US" altLang="ko-KR" sz="800" smtClean="0">
              <a:solidFill>
                <a:schemeClr val="tx1"/>
              </a:solidFill>
            </a:endParaRPr>
          </a:p>
          <a:p>
            <a:endParaRPr lang="en-US" altLang="ko-KR" sz="800" smtClean="0">
              <a:solidFill>
                <a:schemeClr val="tx1"/>
              </a:solidFill>
            </a:endParaRPr>
          </a:p>
          <a:p>
            <a:r>
              <a:rPr lang="ko-KR" altLang="en-US" sz="1050" smtClean="0">
                <a:solidFill>
                  <a:schemeClr val="tx1"/>
                </a:solidFill>
              </a:rPr>
              <a:t>날짜 기반 파생 변수 생성</a:t>
            </a:r>
            <a:endParaRPr lang="en-US" altLang="ko-KR" sz="1050" smtClean="0">
              <a:solidFill>
                <a:schemeClr val="tx1"/>
              </a:solidFill>
            </a:endParaRPr>
          </a:p>
          <a:p>
            <a:r>
              <a:rPr lang="ko-KR" altLang="en-US" sz="800" smtClean="0">
                <a:solidFill>
                  <a:schemeClr val="tx1"/>
                </a:solidFill>
              </a:rPr>
              <a:t>모델이 계절</a:t>
            </a:r>
            <a:r>
              <a:rPr lang="en-US" altLang="ko-KR" sz="800" smtClean="0">
                <a:solidFill>
                  <a:schemeClr val="tx1"/>
                </a:solidFill>
              </a:rPr>
              <a:t>·</a:t>
            </a:r>
            <a:r>
              <a:rPr lang="ko-KR" altLang="en-US" sz="800" smtClean="0">
                <a:solidFill>
                  <a:schemeClr val="tx1"/>
                </a:solidFill>
              </a:rPr>
              <a:t>요일 패턴을 학습할 수 있도록 다음 변수 생성</a:t>
            </a:r>
            <a:endParaRPr lang="en-US" altLang="ko-KR" sz="800" smtClean="0">
              <a:solidFill>
                <a:schemeClr val="tx1"/>
              </a:solidFill>
            </a:endParaRPr>
          </a:p>
          <a:p>
            <a:r>
              <a:rPr lang="en-US" altLang="ko-KR" sz="800" smtClean="0">
                <a:solidFill>
                  <a:schemeClr val="tx1"/>
                </a:solidFill>
              </a:rPr>
              <a:t>month (</a:t>
            </a:r>
            <a:r>
              <a:rPr lang="ko-KR" altLang="en-US" sz="800" smtClean="0">
                <a:solidFill>
                  <a:schemeClr val="tx1"/>
                </a:solidFill>
              </a:rPr>
              <a:t>월</a:t>
            </a:r>
            <a:r>
              <a:rPr lang="en-US" altLang="ko-KR" sz="800" smtClean="0">
                <a:solidFill>
                  <a:schemeClr val="tx1"/>
                </a:solidFill>
              </a:rPr>
              <a:t>)</a:t>
            </a:r>
          </a:p>
          <a:p>
            <a:r>
              <a:rPr lang="en-US" altLang="ko-KR" sz="800" smtClean="0">
                <a:solidFill>
                  <a:schemeClr val="tx1"/>
                </a:solidFill>
              </a:rPr>
              <a:t>day (</a:t>
            </a:r>
            <a:r>
              <a:rPr lang="ko-KR" altLang="en-US" sz="800" smtClean="0">
                <a:solidFill>
                  <a:schemeClr val="tx1"/>
                </a:solidFill>
              </a:rPr>
              <a:t>일</a:t>
            </a:r>
            <a:r>
              <a:rPr lang="en-US" altLang="ko-KR" sz="800" smtClean="0">
                <a:solidFill>
                  <a:schemeClr val="tx1"/>
                </a:solidFill>
              </a:rPr>
              <a:t>)</a:t>
            </a:r>
          </a:p>
          <a:p>
            <a:r>
              <a:rPr lang="en-US" altLang="ko-KR" sz="800" smtClean="0">
                <a:solidFill>
                  <a:schemeClr val="tx1"/>
                </a:solidFill>
              </a:rPr>
              <a:t>weekday (</a:t>
            </a:r>
            <a:r>
              <a:rPr lang="ko-KR" altLang="en-US" sz="800" smtClean="0">
                <a:solidFill>
                  <a:schemeClr val="tx1"/>
                </a:solidFill>
              </a:rPr>
              <a:t>요일</a:t>
            </a:r>
            <a:r>
              <a:rPr lang="en-US" altLang="ko-KR" sz="800" smtClean="0">
                <a:solidFill>
                  <a:schemeClr val="tx1"/>
                </a:solidFill>
              </a:rPr>
              <a:t>)</a:t>
            </a:r>
          </a:p>
          <a:p>
            <a:r>
              <a:rPr lang="en-US" altLang="ko-KR" sz="800" smtClean="0">
                <a:solidFill>
                  <a:schemeClr val="tx1"/>
                </a:solidFill>
              </a:rPr>
              <a:t>is_weekend (</a:t>
            </a:r>
            <a:r>
              <a:rPr lang="ko-KR" altLang="en-US" sz="800" smtClean="0">
                <a:solidFill>
                  <a:schemeClr val="tx1"/>
                </a:solidFill>
              </a:rPr>
              <a:t>주말 여부</a:t>
            </a:r>
            <a:r>
              <a:rPr lang="en-US" altLang="ko-KR" sz="800" smtClean="0">
                <a:solidFill>
                  <a:schemeClr val="tx1"/>
                </a:solidFill>
              </a:rPr>
              <a:t>)</a:t>
            </a:r>
          </a:p>
          <a:p>
            <a:r>
              <a:rPr lang="ko-KR" altLang="en-US" sz="800" smtClean="0">
                <a:solidFill>
                  <a:schemeClr val="tx1"/>
                </a:solidFill>
              </a:rPr>
              <a:t>효과</a:t>
            </a:r>
            <a:r>
              <a:rPr lang="en-US" altLang="ko-KR" sz="800" smtClean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800" smtClean="0">
                <a:solidFill>
                  <a:schemeClr val="tx1"/>
                </a:solidFill>
              </a:rPr>
              <a:t>미세먼지의 계절성</a:t>
            </a:r>
            <a:r>
              <a:rPr lang="en-US" altLang="ko-KR" sz="800" smtClean="0">
                <a:solidFill>
                  <a:schemeClr val="tx1"/>
                </a:solidFill>
              </a:rPr>
              <a:t>·</a:t>
            </a:r>
            <a:r>
              <a:rPr lang="ko-KR" altLang="en-US" sz="800" smtClean="0">
                <a:solidFill>
                  <a:schemeClr val="tx1"/>
                </a:solidFill>
              </a:rPr>
              <a:t>요일성 반영</a:t>
            </a:r>
            <a:endParaRPr lang="en-US" altLang="ko-KR" sz="800" smtClean="0">
              <a:solidFill>
                <a:schemeClr val="tx1"/>
              </a:solidFill>
            </a:endParaRPr>
          </a:p>
          <a:p>
            <a:endParaRPr lang="en-US" altLang="ko-KR" sz="800">
              <a:solidFill>
                <a:schemeClr val="tx1"/>
              </a:solidFill>
            </a:endParaRPr>
          </a:p>
          <a:p>
            <a:r>
              <a:rPr lang="ko-KR" altLang="en-US" sz="1050" smtClean="0">
                <a:solidFill>
                  <a:schemeClr val="tx1"/>
                </a:solidFill>
              </a:rPr>
              <a:t>시계열 특징</a:t>
            </a:r>
            <a:r>
              <a:rPr lang="en-US" altLang="ko-KR" sz="1050" smtClean="0">
                <a:solidFill>
                  <a:schemeClr val="tx1"/>
                </a:solidFill>
              </a:rPr>
              <a:t>(lag/rolling) </a:t>
            </a:r>
            <a:r>
              <a:rPr lang="ko-KR" altLang="en-US" sz="1050" smtClean="0">
                <a:solidFill>
                  <a:schemeClr val="tx1"/>
                </a:solidFill>
              </a:rPr>
              <a:t>생성</a:t>
            </a:r>
            <a:endParaRPr lang="en-US" altLang="ko-KR" sz="1050" smtClean="0">
              <a:solidFill>
                <a:schemeClr val="tx1"/>
              </a:solidFill>
            </a:endParaRPr>
          </a:p>
          <a:p>
            <a:r>
              <a:rPr lang="ko-KR" altLang="en-US" sz="800" smtClean="0">
                <a:solidFill>
                  <a:schemeClr val="tx1"/>
                </a:solidFill>
              </a:rPr>
              <a:t>미세먼지 농도는 </a:t>
            </a:r>
            <a:r>
              <a:rPr lang="ko-KR" altLang="en-US" sz="800" b="1" smtClean="0">
                <a:solidFill>
                  <a:schemeClr val="tx1"/>
                </a:solidFill>
              </a:rPr>
              <a:t>직전 시간 농도에 강하게 의존하여 </a:t>
            </a:r>
            <a:r>
              <a:rPr lang="en-US" altLang="ko-KR" sz="800" b="1" smtClean="0">
                <a:solidFill>
                  <a:schemeClr val="tx1"/>
                </a:solidFill>
              </a:rPr>
              <a:t>Station </a:t>
            </a:r>
            <a:r>
              <a:rPr lang="ko-KR" altLang="en-US" sz="800" b="1" smtClean="0">
                <a:solidFill>
                  <a:schemeClr val="tx1"/>
                </a:solidFill>
              </a:rPr>
              <a:t>별 </a:t>
            </a:r>
            <a:r>
              <a:rPr lang="en-US" altLang="ko-KR" sz="800" b="1" smtClean="0">
                <a:solidFill>
                  <a:schemeClr val="tx1"/>
                </a:solidFill>
              </a:rPr>
              <a:t>lag/rolling </a:t>
            </a:r>
            <a:r>
              <a:rPr lang="ko-KR" altLang="en-US" sz="800" b="1" smtClean="0">
                <a:solidFill>
                  <a:schemeClr val="tx1"/>
                </a:solidFill>
              </a:rPr>
              <a:t>생성</a:t>
            </a:r>
            <a:endParaRPr lang="en-US" altLang="ko-KR" sz="800" b="1" smtClean="0">
              <a:solidFill>
                <a:schemeClr val="tx1"/>
              </a:solidFill>
            </a:endParaRPr>
          </a:p>
          <a:p>
            <a:r>
              <a:rPr lang="ko-KR" altLang="en-US" sz="800" b="1" smtClean="0">
                <a:solidFill>
                  <a:schemeClr val="tx1"/>
                </a:solidFill>
              </a:rPr>
              <a:t>직전 관측값</a:t>
            </a:r>
          </a:p>
          <a:p>
            <a:r>
              <a:rPr lang="en-US" altLang="ko-KR" sz="800" smtClean="0">
                <a:solidFill>
                  <a:schemeClr val="tx1"/>
                </a:solidFill>
              </a:rPr>
              <a:t>lag1 : 1</a:t>
            </a:r>
            <a:r>
              <a:rPr lang="ko-KR" altLang="en-US" sz="800" smtClean="0">
                <a:solidFill>
                  <a:schemeClr val="tx1"/>
                </a:solidFill>
              </a:rPr>
              <a:t>시간 전 미세먼지</a:t>
            </a:r>
          </a:p>
          <a:p>
            <a:r>
              <a:rPr lang="en-US" altLang="ko-KR" sz="800" smtClean="0">
                <a:solidFill>
                  <a:schemeClr val="tx1"/>
                </a:solidFill>
              </a:rPr>
              <a:t>lag24 : 24</a:t>
            </a:r>
            <a:r>
              <a:rPr lang="ko-KR" altLang="en-US" sz="800" smtClean="0">
                <a:solidFill>
                  <a:schemeClr val="tx1"/>
                </a:solidFill>
              </a:rPr>
              <a:t>시간 전 미세먼지</a:t>
            </a:r>
          </a:p>
          <a:p>
            <a:r>
              <a:rPr lang="ko-KR" altLang="en-US" sz="800" b="1" smtClean="0">
                <a:solidFill>
                  <a:schemeClr val="tx1"/>
                </a:solidFill>
              </a:rPr>
              <a:t>이동평균</a:t>
            </a:r>
            <a:r>
              <a:rPr lang="en-US" altLang="ko-KR" sz="800" b="1" smtClean="0">
                <a:solidFill>
                  <a:schemeClr val="tx1"/>
                </a:solidFill>
              </a:rPr>
              <a:t>(rolling features)</a:t>
            </a:r>
          </a:p>
          <a:p>
            <a:r>
              <a:rPr lang="en-US" altLang="ko-KR" sz="800" smtClean="0">
                <a:solidFill>
                  <a:schemeClr val="tx1"/>
                </a:solidFill>
              </a:rPr>
              <a:t>rolling3 : </a:t>
            </a:r>
            <a:r>
              <a:rPr lang="ko-KR" altLang="en-US" sz="800" smtClean="0">
                <a:solidFill>
                  <a:schemeClr val="tx1"/>
                </a:solidFill>
              </a:rPr>
              <a:t>최근 </a:t>
            </a:r>
            <a:r>
              <a:rPr lang="en-US" altLang="ko-KR" sz="800" smtClean="0">
                <a:solidFill>
                  <a:schemeClr val="tx1"/>
                </a:solidFill>
              </a:rPr>
              <a:t>3</a:t>
            </a:r>
            <a:r>
              <a:rPr lang="ko-KR" altLang="en-US" sz="800" smtClean="0">
                <a:solidFill>
                  <a:schemeClr val="tx1"/>
                </a:solidFill>
              </a:rPr>
              <a:t>시간 평균</a:t>
            </a:r>
          </a:p>
          <a:p>
            <a:r>
              <a:rPr lang="en-US" altLang="ko-KR" sz="800" smtClean="0">
                <a:solidFill>
                  <a:schemeClr val="tx1"/>
                </a:solidFill>
              </a:rPr>
              <a:t>rolling24 : </a:t>
            </a:r>
            <a:r>
              <a:rPr lang="ko-KR" altLang="en-US" sz="800" smtClean="0">
                <a:solidFill>
                  <a:schemeClr val="tx1"/>
                </a:solidFill>
              </a:rPr>
              <a:t>최근 </a:t>
            </a:r>
            <a:r>
              <a:rPr lang="en-US" altLang="ko-KR" sz="800" smtClean="0">
                <a:solidFill>
                  <a:schemeClr val="tx1"/>
                </a:solidFill>
              </a:rPr>
              <a:t>24</a:t>
            </a:r>
            <a:r>
              <a:rPr lang="ko-KR" altLang="en-US" sz="800" smtClean="0">
                <a:solidFill>
                  <a:schemeClr val="tx1"/>
                </a:solidFill>
              </a:rPr>
              <a:t>시간 평균</a:t>
            </a:r>
            <a:r>
              <a:rPr lang="en-US" altLang="ko-KR" sz="800" smtClean="0">
                <a:solidFill>
                  <a:schemeClr val="tx1"/>
                </a:solidFill>
              </a:rPr>
              <a:t/>
            </a:r>
            <a:br>
              <a:rPr lang="en-US" altLang="ko-KR" sz="800" smtClean="0">
                <a:solidFill>
                  <a:schemeClr val="tx1"/>
                </a:solidFill>
              </a:rPr>
            </a:br>
            <a:endParaRPr lang="en-US" altLang="ko-KR" sz="800" smtClean="0">
              <a:solidFill>
                <a:schemeClr val="tx1"/>
              </a:solidFill>
            </a:endParaRPr>
          </a:p>
          <a:p>
            <a:r>
              <a:rPr lang="ko-KR" altLang="en-US" sz="1050" smtClean="0">
                <a:solidFill>
                  <a:schemeClr val="tx1"/>
                </a:solidFill>
              </a:rPr>
              <a:t>유효데이터 필터링</a:t>
            </a:r>
            <a:endParaRPr lang="en-US" altLang="ko-KR" sz="1050" smtClean="0">
              <a:solidFill>
                <a:schemeClr val="tx1"/>
              </a:solidFill>
            </a:endParaRPr>
          </a:p>
          <a:p>
            <a:r>
              <a:rPr lang="en-US" altLang="ko-KR" sz="800" smtClean="0">
                <a:solidFill>
                  <a:schemeClr val="tx1"/>
                </a:solidFill>
              </a:rPr>
              <a:t>lag1</a:t>
            </a:r>
            <a:r>
              <a:rPr lang="ko-KR" altLang="en-US" sz="800" smtClean="0">
                <a:solidFill>
                  <a:schemeClr val="tx1"/>
                </a:solidFill>
              </a:rPr>
              <a:t>이 존재하는 데이터만 사용</a:t>
            </a:r>
            <a:endParaRPr lang="en-US" altLang="ko-KR" sz="800" smtClean="0">
              <a:solidFill>
                <a:schemeClr val="tx1"/>
              </a:solidFill>
            </a:endParaRPr>
          </a:p>
          <a:p>
            <a:endParaRPr lang="en-US" altLang="ko-KR" sz="800">
              <a:solidFill>
                <a:schemeClr val="tx1"/>
              </a:solidFill>
            </a:endParaRPr>
          </a:p>
          <a:p>
            <a:r>
              <a:rPr lang="en-US" altLang="ko-KR" sz="1050" smtClean="0">
                <a:solidFill>
                  <a:schemeClr val="tx1"/>
                </a:solidFill>
              </a:rPr>
              <a:t>Int </a:t>
            </a:r>
            <a:r>
              <a:rPr lang="ko-KR" altLang="en-US" sz="1050" smtClean="0">
                <a:solidFill>
                  <a:schemeClr val="tx1"/>
                </a:solidFill>
              </a:rPr>
              <a:t>데이터 </a:t>
            </a:r>
            <a:r>
              <a:rPr lang="en-US" altLang="ko-KR" sz="1050" smtClean="0">
                <a:solidFill>
                  <a:schemeClr val="tx1"/>
                </a:solidFill>
              </a:rPr>
              <a:t>standard scailing</a:t>
            </a:r>
            <a:r>
              <a:rPr lang="ko-KR" altLang="en-US" sz="1050" smtClean="0">
                <a:solidFill>
                  <a:schemeClr val="tx1"/>
                </a:solidFill>
              </a:rPr>
              <a:t>으로 정규화</a:t>
            </a:r>
            <a:endParaRPr lang="en-US" altLang="ko-KR" sz="1050" smtClean="0">
              <a:solidFill>
                <a:schemeClr val="tx1"/>
              </a:solidFill>
            </a:endParaRPr>
          </a:p>
          <a:p>
            <a:r>
              <a:rPr lang="ko-KR" altLang="en-US" sz="800" smtClean="0">
                <a:solidFill>
                  <a:schemeClr val="tx1"/>
                </a:solidFill>
              </a:rPr>
              <a:t>대상 </a:t>
            </a:r>
            <a:r>
              <a:rPr lang="en-US" altLang="ko-KR" sz="800" smtClean="0">
                <a:solidFill>
                  <a:schemeClr val="tx1"/>
                </a:solidFill>
              </a:rPr>
              <a:t>: </a:t>
            </a:r>
            <a:r>
              <a:rPr lang="ko-KR" altLang="en-US" sz="800" smtClean="0">
                <a:solidFill>
                  <a:schemeClr val="tx1"/>
                </a:solidFill>
              </a:rPr>
              <a:t>주말</a:t>
            </a:r>
            <a:r>
              <a:rPr lang="en-US" altLang="ko-KR" sz="800" smtClean="0">
                <a:solidFill>
                  <a:schemeClr val="tx1"/>
                </a:solidFill>
              </a:rPr>
              <a:t>, lag, rolling, </a:t>
            </a:r>
            <a:r>
              <a:rPr lang="ko-KR" altLang="en-US" sz="800" smtClean="0">
                <a:solidFill>
                  <a:schemeClr val="tx1"/>
                </a:solidFill>
              </a:rPr>
              <a:t>요일 등의 </a:t>
            </a:r>
            <a:r>
              <a:rPr lang="en-US" altLang="ko-KR" sz="800" smtClean="0">
                <a:solidFill>
                  <a:schemeClr val="tx1"/>
                </a:solidFill>
              </a:rPr>
              <a:t>int data</a:t>
            </a:r>
          </a:p>
        </p:txBody>
      </p:sp>
    </p:spTree>
    <p:extLst>
      <p:ext uri="{BB962C8B-B14F-4D97-AF65-F5344CB8AC3E}">
        <p14:creationId xmlns:p14="http://schemas.microsoft.com/office/powerpoint/2010/main" val="1892265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70919" y="362465"/>
            <a:ext cx="10602097" cy="510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데이터전처리 </a:t>
            </a:r>
            <a:r>
              <a:rPr lang="en-US" altLang="ko-KR" smtClean="0">
                <a:solidFill>
                  <a:schemeClr val="tx1"/>
                </a:solidFill>
              </a:rPr>
              <a:t>- </a:t>
            </a:r>
            <a:r>
              <a:rPr lang="ko-KR" altLang="en-US" smtClean="0">
                <a:solidFill>
                  <a:schemeClr val="tx1"/>
                </a:solidFill>
              </a:rPr>
              <a:t>결과</a:t>
            </a:r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2800"/>
            <a:ext cx="12192000" cy="447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404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070919" y="362465"/>
            <a:ext cx="10602097" cy="510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선형모델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70919" y="980302"/>
            <a:ext cx="10602097" cy="510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</a:rPr>
              <a:t>scikit-learn</a:t>
            </a:r>
            <a:r>
              <a:rPr lang="ko-KR" altLang="en-US" smtClean="0">
                <a:solidFill>
                  <a:schemeClr val="tx1"/>
                </a:solidFill>
              </a:rPr>
              <a:t>의 </a:t>
            </a:r>
            <a:r>
              <a:rPr lang="en-US" altLang="ko-KR" smtClean="0">
                <a:solidFill>
                  <a:schemeClr val="tx1"/>
                </a:solidFill>
              </a:rPr>
              <a:t>LinearRegession, Ridge, Lasso </a:t>
            </a:r>
            <a:r>
              <a:rPr lang="ko-KR" altLang="en-US" smtClean="0">
                <a:solidFill>
                  <a:schemeClr val="tx1"/>
                </a:solidFill>
              </a:rPr>
              <a:t>예측성능 비교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070919" y="1598139"/>
            <a:ext cx="10602097" cy="510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모델별 특징</a:t>
            </a:r>
            <a:r>
              <a:rPr lang="en-US" altLang="ko-KR" smtClean="0">
                <a:solidFill>
                  <a:schemeClr val="tx1"/>
                </a:solidFill>
              </a:rPr>
              <a:t>: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070919" y="2215976"/>
            <a:ext cx="10602097" cy="510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선형 회귀 기반 예측 모델 구성</a:t>
            </a:r>
            <a:endParaRPr lang="en-US" altLang="ko-KR" smtClean="0">
              <a:solidFill>
                <a:schemeClr val="tx1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864" y="2814552"/>
            <a:ext cx="5344271" cy="1228896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1070919" y="4209532"/>
            <a:ext cx="10602097" cy="510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학습 데이터 구성 </a:t>
            </a:r>
            <a:r>
              <a:rPr lang="en-US" altLang="ko-KR" smtClean="0">
                <a:solidFill>
                  <a:schemeClr val="tx1"/>
                </a:solidFill>
              </a:rPr>
              <a:t>(X_train, y_train)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1070919" y="4802657"/>
            <a:ext cx="10602097" cy="18617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b="1" smtClean="0">
                <a:solidFill>
                  <a:schemeClr val="tx1"/>
                </a:solidFill>
              </a:rPr>
              <a:t>입력 특징</a:t>
            </a:r>
            <a:r>
              <a:rPr lang="en-US" altLang="ko-KR" sz="900" b="1" smtClean="0">
                <a:solidFill>
                  <a:schemeClr val="tx1"/>
                </a:solidFill>
              </a:rPr>
              <a:t>(feature)</a:t>
            </a:r>
          </a:p>
          <a:p>
            <a:r>
              <a:rPr lang="ko-KR" altLang="en-US" sz="900" smtClean="0">
                <a:solidFill>
                  <a:schemeClr val="tx1"/>
                </a:solidFill>
              </a:rPr>
              <a:t>시간</a:t>
            </a:r>
            <a:r>
              <a:rPr lang="en-US" altLang="ko-KR" sz="900" smtClean="0">
                <a:solidFill>
                  <a:schemeClr val="tx1"/>
                </a:solidFill>
              </a:rPr>
              <a:t>/</a:t>
            </a:r>
            <a:r>
              <a:rPr lang="ko-KR" altLang="en-US" sz="900" smtClean="0">
                <a:solidFill>
                  <a:schemeClr val="tx1"/>
                </a:solidFill>
              </a:rPr>
              <a:t>날짜 정보</a:t>
            </a:r>
            <a:r>
              <a:rPr lang="en-US" altLang="ko-KR" sz="900" smtClean="0">
                <a:solidFill>
                  <a:schemeClr val="tx1"/>
                </a:solidFill>
              </a:rPr>
              <a:t>: hour, month, day, weekday, is_weekend</a:t>
            </a:r>
          </a:p>
          <a:p>
            <a:r>
              <a:rPr lang="ko-KR" altLang="en-US" sz="900" smtClean="0">
                <a:solidFill>
                  <a:schemeClr val="tx1"/>
                </a:solidFill>
              </a:rPr>
              <a:t>시계열 정보</a:t>
            </a:r>
            <a:r>
              <a:rPr lang="en-US" altLang="ko-KR" sz="900" smtClean="0">
                <a:solidFill>
                  <a:schemeClr val="tx1"/>
                </a:solidFill>
              </a:rPr>
              <a:t>: lag1, lag24, rolling3, rolling24</a:t>
            </a:r>
          </a:p>
          <a:p>
            <a:r>
              <a:rPr lang="ko-KR" altLang="en-US" sz="900" smtClean="0">
                <a:solidFill>
                  <a:schemeClr val="tx1"/>
                </a:solidFill>
              </a:rPr>
              <a:t>이 중 대부분은 </a:t>
            </a:r>
            <a:r>
              <a:rPr lang="en-US" altLang="ko-KR" sz="900" smtClean="0">
                <a:solidFill>
                  <a:schemeClr val="tx1"/>
                </a:solidFill>
              </a:rPr>
              <a:t>StandardScaler</a:t>
            </a:r>
            <a:r>
              <a:rPr lang="ko-KR" altLang="en-US" sz="900" smtClean="0">
                <a:solidFill>
                  <a:schemeClr val="tx1"/>
                </a:solidFill>
              </a:rPr>
              <a:t>로 정규화 </a:t>
            </a:r>
            <a:r>
              <a:rPr lang="en-US" altLang="ko-KR" sz="900" smtClean="0">
                <a:solidFill>
                  <a:schemeClr val="tx1"/>
                </a:solidFill>
              </a:rPr>
              <a:t>(hour</a:t>
            </a:r>
            <a:r>
              <a:rPr lang="ko-KR" altLang="en-US" sz="900" smtClean="0">
                <a:solidFill>
                  <a:schemeClr val="tx1"/>
                </a:solidFill>
              </a:rPr>
              <a:t>는 원본 값 사용</a:t>
            </a:r>
            <a:r>
              <a:rPr lang="en-US" altLang="ko-KR" sz="900" smtClean="0">
                <a:solidFill>
                  <a:schemeClr val="tx1"/>
                </a:solidFill>
              </a:rPr>
              <a:t>)</a:t>
            </a:r>
          </a:p>
          <a:p>
            <a:endParaRPr lang="en-US" altLang="ko-KR" sz="900" b="1" smtClean="0">
              <a:solidFill>
                <a:schemeClr val="tx1"/>
              </a:solidFill>
            </a:endParaRPr>
          </a:p>
          <a:p>
            <a:r>
              <a:rPr lang="ko-KR" altLang="en-US" sz="900" b="1" smtClean="0">
                <a:solidFill>
                  <a:schemeClr val="tx1"/>
                </a:solidFill>
              </a:rPr>
              <a:t>타깃</a:t>
            </a:r>
            <a:r>
              <a:rPr lang="en-US" altLang="ko-KR" sz="900" b="1" smtClean="0">
                <a:solidFill>
                  <a:schemeClr val="tx1"/>
                </a:solidFill>
              </a:rPr>
              <a:t>(target)</a:t>
            </a:r>
          </a:p>
          <a:p>
            <a:r>
              <a:rPr lang="en-US" altLang="ko-KR" sz="900" smtClean="0">
                <a:solidFill>
                  <a:schemeClr val="tx1"/>
                </a:solidFill>
              </a:rPr>
              <a:t>y_train = pm10</a:t>
            </a:r>
          </a:p>
          <a:p>
            <a:r>
              <a:rPr lang="ko-KR" altLang="en-US" sz="900" smtClean="0">
                <a:solidFill>
                  <a:schemeClr val="tx1"/>
                </a:solidFill>
              </a:rPr>
              <a:t>각 시간대의 실제 미세먼지 농도</a:t>
            </a:r>
            <a:r>
              <a:rPr lang="en-US" altLang="ko-KR" sz="900" smtClean="0">
                <a:solidFill>
                  <a:schemeClr val="tx1"/>
                </a:solidFill>
              </a:rPr>
              <a:t>(</a:t>
            </a:r>
            <a:r>
              <a:rPr lang="ko-KR" altLang="en-US" sz="900" smtClean="0">
                <a:solidFill>
                  <a:schemeClr val="tx1"/>
                </a:solidFill>
              </a:rPr>
              <a:t>시계열 레이블</a:t>
            </a:r>
            <a:r>
              <a:rPr lang="en-US" altLang="ko-KR" sz="900" smtClean="0">
                <a:solidFill>
                  <a:schemeClr val="tx1"/>
                </a:solidFill>
              </a:rPr>
              <a:t>)</a:t>
            </a:r>
          </a:p>
          <a:p>
            <a:r>
              <a:rPr lang="ko-KR" altLang="en-US" sz="900" b="1" smtClean="0">
                <a:solidFill>
                  <a:schemeClr val="tx1"/>
                </a:solidFill>
              </a:rPr>
              <a:t>학습</a:t>
            </a:r>
            <a:r>
              <a:rPr lang="en-US" altLang="ko-KR" sz="900" b="1" smtClean="0">
                <a:solidFill>
                  <a:schemeClr val="tx1"/>
                </a:solidFill>
              </a:rPr>
              <a:t>/</a:t>
            </a:r>
            <a:r>
              <a:rPr lang="ko-KR" altLang="en-US" sz="900" b="1" smtClean="0">
                <a:solidFill>
                  <a:schemeClr val="tx1"/>
                </a:solidFill>
              </a:rPr>
              <a:t>검증 데이터 분리</a:t>
            </a:r>
          </a:p>
          <a:p>
            <a:r>
              <a:rPr lang="en-US" altLang="ko-KR" sz="900" smtClean="0">
                <a:solidFill>
                  <a:schemeClr val="tx1"/>
                </a:solidFill>
              </a:rPr>
              <a:t>X_train, y_train : </a:t>
            </a:r>
            <a:r>
              <a:rPr lang="ko-KR" altLang="en-US" sz="900" smtClean="0">
                <a:solidFill>
                  <a:schemeClr val="tx1"/>
                </a:solidFill>
              </a:rPr>
              <a:t>과거 </a:t>
            </a:r>
            <a:r>
              <a:rPr lang="en-US" altLang="ko-KR" sz="900" smtClean="0">
                <a:solidFill>
                  <a:schemeClr val="tx1"/>
                </a:solidFill>
              </a:rPr>
              <a:t>80% </a:t>
            </a:r>
            <a:r>
              <a:rPr lang="ko-KR" altLang="en-US" sz="900" smtClean="0">
                <a:solidFill>
                  <a:schemeClr val="tx1"/>
                </a:solidFill>
              </a:rPr>
              <a:t>날짜 구간</a:t>
            </a:r>
          </a:p>
          <a:p>
            <a:r>
              <a:rPr lang="en-US" altLang="ko-KR" sz="900" smtClean="0">
                <a:solidFill>
                  <a:schemeClr val="tx1"/>
                </a:solidFill>
              </a:rPr>
              <a:t>X_test, y_test : </a:t>
            </a:r>
            <a:r>
              <a:rPr lang="ko-KR" altLang="en-US" sz="900" smtClean="0">
                <a:solidFill>
                  <a:schemeClr val="tx1"/>
                </a:solidFill>
              </a:rPr>
              <a:t>이후 </a:t>
            </a:r>
            <a:r>
              <a:rPr lang="en-US" altLang="ko-KR" sz="900" smtClean="0">
                <a:solidFill>
                  <a:schemeClr val="tx1"/>
                </a:solidFill>
              </a:rPr>
              <a:t>20% </a:t>
            </a:r>
            <a:r>
              <a:rPr lang="ko-KR" altLang="en-US" sz="900" smtClean="0">
                <a:solidFill>
                  <a:schemeClr val="tx1"/>
                </a:solidFill>
              </a:rPr>
              <a:t>날짜 구간</a:t>
            </a:r>
          </a:p>
          <a:p>
            <a:r>
              <a:rPr lang="ko-KR" altLang="en-US" sz="900" smtClean="0">
                <a:solidFill>
                  <a:schemeClr val="tx1"/>
                </a:solidFill>
              </a:rPr>
              <a:t>*시계열 순서를 유지한 </a:t>
            </a:r>
            <a:r>
              <a:rPr lang="en-US" altLang="ko-KR" sz="900" smtClean="0">
                <a:solidFill>
                  <a:schemeClr val="tx1"/>
                </a:solidFill>
              </a:rPr>
              <a:t>Train/Test Split</a:t>
            </a:r>
            <a:r>
              <a:rPr lang="ko-KR" altLang="en-US" sz="900" smtClean="0">
                <a:solidFill>
                  <a:schemeClr val="tx1"/>
                </a:solidFill>
              </a:rPr>
              <a:t>으로 미래 데이터에 대한 예측 성능을 검증</a:t>
            </a:r>
            <a:endParaRPr lang="en-US" altLang="ko-KR" sz="90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5336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70919" y="362465"/>
            <a:ext cx="10602097" cy="510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학습 절차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70919" y="963827"/>
            <a:ext cx="10602097" cy="9391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smtClean="0">
                <a:solidFill>
                  <a:schemeClr val="tx1"/>
                </a:solidFill>
              </a:rPr>
              <a:t>동일한 전처리</a:t>
            </a:r>
            <a:r>
              <a:rPr lang="en-US" altLang="ko-KR" sz="1100" smtClean="0">
                <a:solidFill>
                  <a:schemeClr val="tx1"/>
                </a:solidFill>
              </a:rPr>
              <a:t>/</a:t>
            </a:r>
            <a:r>
              <a:rPr lang="ko-KR" altLang="en-US" sz="1100" smtClean="0">
                <a:solidFill>
                  <a:schemeClr val="tx1"/>
                </a:solidFill>
              </a:rPr>
              <a:t>특징</a:t>
            </a:r>
            <a:r>
              <a:rPr lang="en-US" altLang="ko-KR" sz="1100" smtClean="0">
                <a:solidFill>
                  <a:schemeClr val="tx1"/>
                </a:solidFill>
              </a:rPr>
              <a:t>/Train</a:t>
            </a:r>
            <a:r>
              <a:rPr lang="ko-KR" altLang="en-US" sz="1100" smtClean="0">
                <a:solidFill>
                  <a:schemeClr val="tx1"/>
                </a:solidFill>
              </a:rPr>
              <a:t>데이터를 사용</a:t>
            </a:r>
          </a:p>
          <a:p>
            <a:r>
              <a:rPr lang="en-US" altLang="ko-KR" sz="1100" smtClean="0">
                <a:solidFill>
                  <a:schemeClr val="tx1"/>
                </a:solidFill>
              </a:rPr>
              <a:t>fit(X_train, y_train)</a:t>
            </a:r>
            <a:r>
              <a:rPr lang="ko-KR" altLang="en-US" sz="1100" smtClean="0">
                <a:solidFill>
                  <a:schemeClr val="tx1"/>
                </a:solidFill>
              </a:rPr>
              <a:t>으로 각 모델별 회귀 계수 학습</a:t>
            </a:r>
          </a:p>
          <a:p>
            <a:r>
              <a:rPr lang="ko-KR" altLang="en-US" sz="1100" smtClean="0">
                <a:solidFill>
                  <a:schemeClr val="tx1"/>
                </a:solidFill>
              </a:rPr>
              <a:t>학습된 모델에 </a:t>
            </a:r>
            <a:r>
              <a:rPr lang="en-US" altLang="ko-KR" sz="1100" smtClean="0">
                <a:solidFill>
                  <a:schemeClr val="tx1"/>
                </a:solidFill>
              </a:rPr>
              <a:t>X_test</a:t>
            </a:r>
            <a:r>
              <a:rPr lang="ko-KR" altLang="en-US" sz="1100" smtClean="0">
                <a:solidFill>
                  <a:schemeClr val="tx1"/>
                </a:solidFill>
              </a:rPr>
              <a:t>를 넣어 </a:t>
            </a:r>
            <a:r>
              <a:rPr lang="en-US" altLang="ko-KR" sz="1100" smtClean="0">
                <a:solidFill>
                  <a:schemeClr val="tx1"/>
                </a:solidFill>
              </a:rPr>
              <a:t>y_pred(</a:t>
            </a:r>
            <a:r>
              <a:rPr lang="ko-KR" altLang="en-US" sz="1100" smtClean="0">
                <a:solidFill>
                  <a:schemeClr val="tx1"/>
                </a:solidFill>
              </a:rPr>
              <a:t>예측 </a:t>
            </a:r>
            <a:r>
              <a:rPr lang="en-US" altLang="ko-KR" sz="1100" smtClean="0">
                <a:solidFill>
                  <a:schemeClr val="tx1"/>
                </a:solidFill>
              </a:rPr>
              <a:t>PM10) </a:t>
            </a:r>
            <a:r>
              <a:rPr lang="ko-KR" altLang="en-US" sz="1100" smtClean="0">
                <a:solidFill>
                  <a:schemeClr val="tx1"/>
                </a:solidFill>
              </a:rPr>
              <a:t>생성</a:t>
            </a:r>
          </a:p>
          <a:p>
            <a:r>
              <a:rPr lang="ko-KR" altLang="en-US" sz="1100" smtClean="0">
                <a:solidFill>
                  <a:schemeClr val="tx1"/>
                </a:solidFill>
              </a:rPr>
              <a:t>세 모델 모두 완전히 같은 데이터로 학습</a:t>
            </a:r>
            <a:r>
              <a:rPr lang="en-US" altLang="ko-KR" sz="1100" smtClean="0">
                <a:solidFill>
                  <a:schemeClr val="tx1"/>
                </a:solidFill>
              </a:rPr>
              <a:t>·</a:t>
            </a:r>
            <a:r>
              <a:rPr lang="ko-KR" altLang="en-US" sz="1100" smtClean="0">
                <a:solidFill>
                  <a:schemeClr val="tx1"/>
                </a:solidFill>
              </a:rPr>
              <a:t>검증 → 공정한 비교</a:t>
            </a:r>
            <a:endParaRPr lang="ko-KR" altLang="en-US" sz="1100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707" y="2331308"/>
            <a:ext cx="3662309" cy="4233142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070919" y="2331308"/>
            <a:ext cx="6939788" cy="510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검증지표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175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70919" y="362465"/>
            <a:ext cx="10602097" cy="510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성능비교</a:t>
            </a:r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627" y="1022177"/>
            <a:ext cx="4620270" cy="1238423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070919" y="2409566"/>
            <a:ext cx="10602097" cy="17752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smtClean="0">
                <a:solidFill>
                  <a:schemeClr val="tx1"/>
                </a:solidFill>
              </a:rPr>
              <a:t>LinearRegression vs Ridge</a:t>
            </a:r>
          </a:p>
          <a:p>
            <a:r>
              <a:rPr lang="en-US" altLang="ko-KR" sz="1100" smtClean="0">
                <a:solidFill>
                  <a:schemeClr val="tx1"/>
                </a:solidFill>
              </a:rPr>
              <a:t>R², MAE, RMSE</a:t>
            </a:r>
            <a:r>
              <a:rPr lang="ko-KR" altLang="en-US" sz="1100" smtClean="0">
                <a:solidFill>
                  <a:schemeClr val="tx1"/>
                </a:solidFill>
              </a:rPr>
              <a:t>가 거의 동일</a:t>
            </a:r>
          </a:p>
          <a:p>
            <a:r>
              <a:rPr lang="ko-KR" altLang="en-US" sz="1100" smtClean="0">
                <a:solidFill>
                  <a:schemeClr val="tx1"/>
                </a:solidFill>
              </a:rPr>
              <a:t>데이터가 선형 구조를 잘 따르고 있어 규제로 계수를 조절하더라도 성능 차이가 거의 없음</a:t>
            </a:r>
          </a:p>
          <a:p>
            <a:r>
              <a:rPr lang="ko-KR" altLang="en-US" sz="1100" smtClean="0">
                <a:solidFill>
                  <a:schemeClr val="tx1"/>
                </a:solidFill>
              </a:rPr>
              <a:t>*두 모델 모두 안정적인 선형 예측 모델로 사용 가능</a:t>
            </a:r>
          </a:p>
          <a:p>
            <a:endParaRPr lang="ko-KR" altLang="en-US" sz="1100" smtClean="0">
              <a:solidFill>
                <a:schemeClr val="tx1"/>
              </a:solidFill>
            </a:endParaRPr>
          </a:p>
          <a:p>
            <a:r>
              <a:rPr lang="en-US" altLang="ko-KR" sz="1100" smtClean="0">
                <a:solidFill>
                  <a:schemeClr val="tx1"/>
                </a:solidFill>
              </a:rPr>
              <a:t>Lasso(α=0.1)</a:t>
            </a:r>
          </a:p>
          <a:p>
            <a:r>
              <a:rPr lang="en-US" altLang="ko-KR" sz="1100" smtClean="0">
                <a:solidFill>
                  <a:schemeClr val="tx1"/>
                </a:solidFill>
              </a:rPr>
              <a:t>R²</a:t>
            </a:r>
            <a:r>
              <a:rPr lang="ko-KR" altLang="en-US" sz="1100" smtClean="0">
                <a:solidFill>
                  <a:schemeClr val="tx1"/>
                </a:solidFill>
              </a:rPr>
              <a:t>가 약간 낮고</a:t>
            </a:r>
            <a:r>
              <a:rPr lang="en-US" altLang="ko-KR" sz="1100" smtClean="0">
                <a:solidFill>
                  <a:schemeClr val="tx1"/>
                </a:solidFill>
              </a:rPr>
              <a:t>, MAE/RMSE</a:t>
            </a:r>
            <a:r>
              <a:rPr lang="ko-KR" altLang="en-US" sz="1100" smtClean="0">
                <a:solidFill>
                  <a:schemeClr val="tx1"/>
                </a:solidFill>
              </a:rPr>
              <a:t>도 조금 더 큼</a:t>
            </a:r>
          </a:p>
          <a:p>
            <a:r>
              <a:rPr lang="en-US" altLang="ko-KR" sz="1100" smtClean="0">
                <a:solidFill>
                  <a:schemeClr val="tx1"/>
                </a:solidFill>
              </a:rPr>
              <a:t>L1 </a:t>
            </a:r>
            <a:r>
              <a:rPr lang="ko-KR" altLang="en-US" sz="1100" smtClean="0">
                <a:solidFill>
                  <a:schemeClr val="tx1"/>
                </a:solidFill>
              </a:rPr>
              <a:t>정규화로 일부 </a:t>
            </a:r>
            <a:r>
              <a:rPr lang="en-US" altLang="ko-KR" sz="1100" smtClean="0">
                <a:solidFill>
                  <a:schemeClr val="tx1"/>
                </a:solidFill>
              </a:rPr>
              <a:t>feature </a:t>
            </a:r>
            <a:r>
              <a:rPr lang="ko-KR" altLang="en-US" sz="1100" smtClean="0">
                <a:solidFill>
                  <a:schemeClr val="tx1"/>
                </a:solidFill>
              </a:rPr>
              <a:t>계수가 </a:t>
            </a:r>
            <a:r>
              <a:rPr lang="en-US" altLang="ko-KR" sz="1100" smtClean="0">
                <a:solidFill>
                  <a:schemeClr val="tx1"/>
                </a:solidFill>
              </a:rPr>
              <a:t>0</a:t>
            </a:r>
            <a:r>
              <a:rPr lang="ko-KR" altLang="en-US" sz="1100" smtClean="0">
                <a:solidFill>
                  <a:schemeClr val="tx1"/>
                </a:solidFill>
              </a:rPr>
              <a:t>에 가까워지면서 정보 손실 발생</a:t>
            </a:r>
          </a:p>
          <a:p>
            <a:r>
              <a:rPr lang="ko-KR" altLang="en-US" sz="1100" smtClean="0">
                <a:solidFill>
                  <a:schemeClr val="tx1"/>
                </a:solidFill>
              </a:rPr>
              <a:t>*변수 선택 효과는 있지만</a:t>
            </a:r>
            <a:r>
              <a:rPr lang="en-US" altLang="ko-KR" sz="1100" smtClean="0">
                <a:solidFill>
                  <a:schemeClr val="tx1"/>
                </a:solidFill>
              </a:rPr>
              <a:t>, </a:t>
            </a:r>
            <a:r>
              <a:rPr lang="ko-KR" altLang="en-US" sz="1100" smtClean="0">
                <a:solidFill>
                  <a:schemeClr val="tx1"/>
                </a:solidFill>
              </a:rPr>
              <a:t>이 데이터에서는 오히려 성능이 다소 감소</a:t>
            </a:r>
            <a:endParaRPr lang="ko-KR" altLang="en-US" sz="11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393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70919" y="362465"/>
            <a:ext cx="10602097" cy="510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결론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070919" y="955588"/>
            <a:ext cx="10602097" cy="56676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 smtClean="0">
                <a:solidFill>
                  <a:schemeClr val="tx1"/>
                </a:solidFill>
              </a:rPr>
              <a:t>모델 선택 기준</a:t>
            </a:r>
            <a:endParaRPr lang="ko-KR" altLang="en-US" sz="1050" smtClean="0">
              <a:solidFill>
                <a:schemeClr val="tx1"/>
              </a:solidFill>
            </a:endParaRPr>
          </a:p>
          <a:p>
            <a:r>
              <a:rPr lang="ko-KR" altLang="en-US" sz="1050" smtClean="0">
                <a:solidFill>
                  <a:schemeClr val="tx1"/>
                </a:solidFill>
              </a:rPr>
              <a:t>높은 </a:t>
            </a:r>
            <a:r>
              <a:rPr lang="en-US" altLang="ko-KR" sz="1050" smtClean="0">
                <a:solidFill>
                  <a:schemeClr val="tx1"/>
                </a:solidFill>
              </a:rPr>
              <a:t>R² (</a:t>
            </a:r>
            <a:r>
              <a:rPr lang="ko-KR" altLang="en-US" sz="1050" smtClean="0">
                <a:solidFill>
                  <a:schemeClr val="tx1"/>
                </a:solidFill>
              </a:rPr>
              <a:t>설명력</a:t>
            </a:r>
            <a:r>
              <a:rPr lang="en-US" altLang="ko-KR" sz="1050" smtClean="0">
                <a:solidFill>
                  <a:schemeClr val="tx1"/>
                </a:solidFill>
              </a:rPr>
              <a:t>)</a:t>
            </a:r>
          </a:p>
          <a:p>
            <a:r>
              <a:rPr lang="ko-KR" altLang="en-US" sz="1050" smtClean="0">
                <a:solidFill>
                  <a:schemeClr val="tx1"/>
                </a:solidFill>
              </a:rPr>
              <a:t>낮은 </a:t>
            </a:r>
            <a:r>
              <a:rPr lang="en-US" altLang="ko-KR" sz="1050" smtClean="0">
                <a:solidFill>
                  <a:schemeClr val="tx1"/>
                </a:solidFill>
              </a:rPr>
              <a:t>MAE/RMSE (</a:t>
            </a:r>
            <a:r>
              <a:rPr lang="ko-KR" altLang="en-US" sz="1050" smtClean="0">
                <a:solidFill>
                  <a:schemeClr val="tx1"/>
                </a:solidFill>
              </a:rPr>
              <a:t>실제 오차 크기</a:t>
            </a:r>
            <a:r>
              <a:rPr lang="en-US" altLang="ko-KR" sz="1050" smtClean="0">
                <a:solidFill>
                  <a:schemeClr val="tx1"/>
                </a:solidFill>
              </a:rPr>
              <a:t>)</a:t>
            </a:r>
          </a:p>
          <a:p>
            <a:r>
              <a:rPr lang="ko-KR" altLang="en-US" sz="1050" smtClean="0">
                <a:solidFill>
                  <a:schemeClr val="tx1"/>
                </a:solidFill>
              </a:rPr>
              <a:t>계수 안정성 및 과적합 가능성</a:t>
            </a:r>
          </a:p>
          <a:p>
            <a:endParaRPr lang="ko-KR" altLang="en-US" sz="1050" b="1" smtClean="0">
              <a:solidFill>
                <a:schemeClr val="tx1"/>
              </a:solidFill>
            </a:endParaRPr>
          </a:p>
          <a:p>
            <a:r>
              <a:rPr lang="en-US" altLang="ko-KR" sz="1050" b="1" smtClean="0">
                <a:solidFill>
                  <a:schemeClr val="tx1"/>
                </a:solidFill>
              </a:rPr>
              <a:t>Ridge(α=1.0)</a:t>
            </a:r>
          </a:p>
          <a:p>
            <a:r>
              <a:rPr lang="en-US" altLang="ko-KR" sz="1050" smtClean="0">
                <a:solidFill>
                  <a:schemeClr val="tx1"/>
                </a:solidFill>
              </a:rPr>
              <a:t>LinearRegression</a:t>
            </a:r>
            <a:r>
              <a:rPr lang="ko-KR" altLang="en-US" sz="1050" smtClean="0">
                <a:solidFill>
                  <a:schemeClr val="tx1"/>
                </a:solidFill>
              </a:rPr>
              <a:t>과 동급의 성능</a:t>
            </a:r>
            <a:r>
              <a:rPr lang="en-US" altLang="ko-KR" sz="1050" smtClean="0">
                <a:solidFill>
                  <a:schemeClr val="tx1"/>
                </a:solidFill>
              </a:rPr>
              <a:t>(R² ≈ 0.915)</a:t>
            </a:r>
          </a:p>
          <a:p>
            <a:r>
              <a:rPr lang="en-US" altLang="ko-KR" sz="1050" smtClean="0">
                <a:solidFill>
                  <a:schemeClr val="tx1"/>
                </a:solidFill>
              </a:rPr>
              <a:t>L2 </a:t>
            </a:r>
            <a:r>
              <a:rPr lang="ko-KR" altLang="en-US" sz="1050" smtClean="0">
                <a:solidFill>
                  <a:schemeClr val="tx1"/>
                </a:solidFill>
              </a:rPr>
              <a:t>정규화로 계수가 안정적 → 과적합 위험 최소화</a:t>
            </a:r>
          </a:p>
          <a:p>
            <a:r>
              <a:rPr lang="ko-KR" altLang="en-US" sz="1050" smtClean="0">
                <a:solidFill>
                  <a:schemeClr val="tx1"/>
                </a:solidFill>
              </a:rPr>
              <a:t>실제 서비스</a:t>
            </a:r>
            <a:r>
              <a:rPr lang="en-US" altLang="ko-KR" sz="1050" smtClean="0">
                <a:solidFill>
                  <a:schemeClr val="tx1"/>
                </a:solidFill>
              </a:rPr>
              <a:t>/</a:t>
            </a:r>
            <a:r>
              <a:rPr lang="ko-KR" altLang="en-US" sz="1050" smtClean="0">
                <a:solidFill>
                  <a:schemeClr val="tx1"/>
                </a:solidFill>
              </a:rPr>
              <a:t>실증 단계에서 사용하기에 가장 적합한 모델로 선택</a:t>
            </a:r>
          </a:p>
          <a:p>
            <a:endParaRPr lang="ko-KR" altLang="en-US" sz="1050" smtClean="0">
              <a:solidFill>
                <a:schemeClr val="tx1"/>
              </a:solidFill>
            </a:endParaRPr>
          </a:p>
          <a:p>
            <a:r>
              <a:rPr lang="en-US" altLang="ko-KR" sz="1050" b="1" smtClean="0">
                <a:solidFill>
                  <a:schemeClr val="tx1"/>
                </a:solidFill>
              </a:rPr>
              <a:t>LinearRegression</a:t>
            </a:r>
          </a:p>
          <a:p>
            <a:r>
              <a:rPr lang="ko-KR" altLang="en-US" sz="1050" smtClean="0">
                <a:solidFill>
                  <a:schemeClr val="tx1"/>
                </a:solidFill>
              </a:rPr>
              <a:t>기본 </a:t>
            </a:r>
            <a:r>
              <a:rPr lang="en-US" altLang="ko-KR" sz="1050" smtClean="0">
                <a:solidFill>
                  <a:schemeClr val="tx1"/>
                </a:solidFill>
              </a:rPr>
              <a:t>Baseline </a:t>
            </a:r>
            <a:r>
              <a:rPr lang="ko-KR" altLang="en-US" sz="1050" smtClean="0">
                <a:solidFill>
                  <a:schemeClr val="tx1"/>
                </a:solidFill>
              </a:rPr>
              <a:t>모델로 활용</a:t>
            </a:r>
          </a:p>
          <a:p>
            <a:r>
              <a:rPr lang="en-US" altLang="ko-KR" sz="1050" smtClean="0">
                <a:solidFill>
                  <a:schemeClr val="tx1"/>
                </a:solidFill>
              </a:rPr>
              <a:t>Ridge</a:t>
            </a:r>
            <a:r>
              <a:rPr lang="ko-KR" altLang="en-US" sz="1050" smtClean="0">
                <a:solidFill>
                  <a:schemeClr val="tx1"/>
                </a:solidFill>
              </a:rPr>
              <a:t>와 거의 동일 성능 → “정규화 전</a:t>
            </a:r>
            <a:r>
              <a:rPr lang="en-US" altLang="ko-KR" sz="1050" smtClean="0">
                <a:solidFill>
                  <a:schemeClr val="tx1"/>
                </a:solidFill>
              </a:rPr>
              <a:t>·</a:t>
            </a:r>
            <a:r>
              <a:rPr lang="ko-KR" altLang="en-US" sz="1050" smtClean="0">
                <a:solidFill>
                  <a:schemeClr val="tx1"/>
                </a:solidFill>
              </a:rPr>
              <a:t>후 비교용 기준 모델”</a:t>
            </a:r>
            <a:endParaRPr lang="en-US" altLang="ko-KR" sz="1050" smtClean="0">
              <a:solidFill>
                <a:schemeClr val="tx1"/>
              </a:solidFill>
            </a:endParaRPr>
          </a:p>
          <a:p>
            <a:endParaRPr lang="ko-KR" altLang="en-US" sz="1050" smtClean="0">
              <a:solidFill>
                <a:schemeClr val="tx1"/>
              </a:solidFill>
            </a:endParaRPr>
          </a:p>
          <a:p>
            <a:r>
              <a:rPr lang="en-US" altLang="ko-KR" sz="1050" b="1" smtClean="0">
                <a:solidFill>
                  <a:schemeClr val="tx1"/>
                </a:solidFill>
              </a:rPr>
              <a:t>Lasso(α=0.1)</a:t>
            </a:r>
          </a:p>
          <a:p>
            <a:r>
              <a:rPr lang="ko-KR" altLang="en-US" sz="1050" smtClean="0">
                <a:solidFill>
                  <a:schemeClr val="tx1"/>
                </a:solidFill>
              </a:rPr>
              <a:t>변수가 매우 많을 때는 유용하지만</a:t>
            </a:r>
          </a:p>
          <a:p>
            <a:r>
              <a:rPr lang="ko-KR" altLang="en-US" sz="1050" smtClean="0">
                <a:solidFill>
                  <a:schemeClr val="tx1"/>
                </a:solidFill>
              </a:rPr>
              <a:t>이번 데이터에서는 주요 </a:t>
            </a:r>
            <a:r>
              <a:rPr lang="en-US" altLang="ko-KR" sz="1050" smtClean="0">
                <a:solidFill>
                  <a:schemeClr val="tx1"/>
                </a:solidFill>
              </a:rPr>
              <a:t>feature</a:t>
            </a:r>
            <a:r>
              <a:rPr lang="ko-KR" altLang="en-US" sz="1050" smtClean="0">
                <a:solidFill>
                  <a:schemeClr val="tx1"/>
                </a:solidFill>
              </a:rPr>
              <a:t>까지 일부 약화되면서 성능이 다소 떨어지는 것으로 확인</a:t>
            </a:r>
          </a:p>
          <a:p>
            <a:endParaRPr lang="en-US" altLang="ko-KR" sz="1050" smtClean="0">
              <a:solidFill>
                <a:schemeClr val="tx1"/>
              </a:solidFill>
            </a:endParaRPr>
          </a:p>
          <a:p>
            <a:r>
              <a:rPr lang="ko-KR" altLang="en-US" sz="1050" b="1" smtClean="0">
                <a:solidFill>
                  <a:schemeClr val="tx1"/>
                </a:solidFill>
              </a:rPr>
              <a:t>결론</a:t>
            </a:r>
          </a:p>
          <a:p>
            <a:r>
              <a:rPr lang="ko-KR" altLang="en-US" sz="1050" smtClean="0">
                <a:solidFill>
                  <a:schemeClr val="tx1"/>
                </a:solidFill>
              </a:rPr>
              <a:t>전처리된 시계열</a:t>
            </a:r>
            <a:r>
              <a:rPr lang="en-US" altLang="ko-KR" sz="1050" smtClean="0">
                <a:solidFill>
                  <a:schemeClr val="tx1"/>
                </a:solidFill>
              </a:rPr>
              <a:t>·</a:t>
            </a:r>
            <a:r>
              <a:rPr lang="ko-KR" altLang="en-US" sz="1050" smtClean="0">
                <a:solidFill>
                  <a:schemeClr val="tx1"/>
                </a:solidFill>
              </a:rPr>
              <a:t>날짜 특성을 이용해 </a:t>
            </a:r>
            <a:r>
              <a:rPr lang="en-US" altLang="ko-KR" sz="1050" smtClean="0">
                <a:solidFill>
                  <a:schemeClr val="tx1"/>
                </a:solidFill>
              </a:rPr>
              <a:t>Linear, Ridge, Lasso </a:t>
            </a:r>
            <a:r>
              <a:rPr lang="ko-KR" altLang="en-US" sz="1050" smtClean="0">
                <a:solidFill>
                  <a:schemeClr val="tx1"/>
                </a:solidFill>
              </a:rPr>
              <a:t>세 모델을 동일 조건에서 학습</a:t>
            </a:r>
            <a:r>
              <a:rPr lang="en-US" altLang="ko-KR" sz="1050" smtClean="0">
                <a:solidFill>
                  <a:schemeClr val="tx1"/>
                </a:solidFill>
              </a:rPr>
              <a:t>·</a:t>
            </a:r>
            <a:r>
              <a:rPr lang="ko-KR" altLang="en-US" sz="1050" smtClean="0">
                <a:solidFill>
                  <a:schemeClr val="tx1"/>
                </a:solidFill>
              </a:rPr>
              <a:t>검증한 결과</a:t>
            </a:r>
            <a:r>
              <a:rPr lang="en-US" altLang="ko-KR" sz="1050" smtClean="0">
                <a:solidFill>
                  <a:schemeClr val="tx1"/>
                </a:solidFill>
              </a:rPr>
              <a:t>, Ridge</a:t>
            </a:r>
            <a:r>
              <a:rPr lang="ko-KR" altLang="en-US" sz="1050" smtClean="0">
                <a:solidFill>
                  <a:schemeClr val="tx1"/>
                </a:solidFill>
              </a:rPr>
              <a:t>와 </a:t>
            </a:r>
            <a:r>
              <a:rPr lang="en-US" altLang="ko-KR" sz="1050" smtClean="0">
                <a:solidFill>
                  <a:schemeClr val="tx1"/>
                </a:solidFill>
              </a:rPr>
              <a:t>Linear</a:t>
            </a:r>
            <a:r>
              <a:rPr lang="ko-KR" altLang="en-US" sz="1050" smtClean="0">
                <a:solidFill>
                  <a:schemeClr val="tx1"/>
                </a:solidFill>
              </a:rPr>
              <a:t>가 가장 높은 설명력</a:t>
            </a:r>
            <a:r>
              <a:rPr lang="en-US" altLang="ko-KR" sz="1050" smtClean="0">
                <a:solidFill>
                  <a:schemeClr val="tx1"/>
                </a:solidFill>
              </a:rPr>
              <a:t>(R²≈0.915)</a:t>
            </a:r>
            <a:r>
              <a:rPr lang="ko-KR" altLang="en-US" sz="1050" smtClean="0">
                <a:solidFill>
                  <a:schemeClr val="tx1"/>
                </a:solidFill>
              </a:rPr>
              <a:t>과 낮은 오차</a:t>
            </a:r>
            <a:r>
              <a:rPr lang="en-US" altLang="ko-KR" sz="1050" smtClean="0">
                <a:solidFill>
                  <a:schemeClr val="tx1"/>
                </a:solidFill>
              </a:rPr>
              <a:t>(RMSE≈4.36)</a:t>
            </a:r>
            <a:r>
              <a:rPr lang="ko-KR" altLang="en-US" sz="1050" smtClean="0">
                <a:solidFill>
                  <a:schemeClr val="tx1"/>
                </a:solidFill>
              </a:rPr>
              <a:t>를 보여 최종 예측 모델로 선택</a:t>
            </a:r>
            <a:r>
              <a:rPr lang="en-US" altLang="ko-KR" sz="1050" smtClean="0">
                <a:solidFill>
                  <a:schemeClr val="tx1"/>
                </a:solidFill>
              </a:rPr>
              <a:t> </a:t>
            </a:r>
          </a:p>
          <a:p>
            <a:r>
              <a:rPr lang="en-US" altLang="ko-KR" sz="1050" smtClean="0">
                <a:solidFill>
                  <a:schemeClr val="tx1"/>
                </a:solidFill>
              </a:rPr>
              <a:t>Lasso</a:t>
            </a:r>
            <a:r>
              <a:rPr lang="ko-KR" altLang="en-US" sz="1050" smtClean="0">
                <a:solidFill>
                  <a:schemeClr val="tx1"/>
                </a:solidFill>
              </a:rPr>
              <a:t>는 변수 선택 효과는 있었으나</a:t>
            </a:r>
            <a:r>
              <a:rPr lang="en-US" altLang="ko-KR" sz="1050" smtClean="0">
                <a:solidFill>
                  <a:schemeClr val="tx1"/>
                </a:solidFill>
              </a:rPr>
              <a:t>, </a:t>
            </a:r>
            <a:r>
              <a:rPr lang="ko-KR" altLang="en-US" sz="1050" smtClean="0">
                <a:solidFill>
                  <a:schemeClr val="tx1"/>
                </a:solidFill>
              </a:rPr>
              <a:t>본 데이터에서는 다소 성능 저하를 보임</a:t>
            </a:r>
            <a:endParaRPr lang="ko-KR" altLang="en-US" sz="10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4225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70919" y="362465"/>
            <a:ext cx="10602097" cy="510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모델별 비교 예측 시각화 </a:t>
            </a:r>
            <a:r>
              <a:rPr lang="en-US" altLang="ko-KR" smtClean="0">
                <a:solidFill>
                  <a:schemeClr val="tx1"/>
                </a:solidFill>
              </a:rPr>
              <a:t>(</a:t>
            </a:r>
            <a:r>
              <a:rPr lang="ko-KR" altLang="en-US" smtClean="0">
                <a:solidFill>
                  <a:schemeClr val="tx1"/>
                </a:solidFill>
              </a:rPr>
              <a:t>상위 </a:t>
            </a:r>
            <a:r>
              <a:rPr lang="en-US" altLang="ko-KR" smtClean="0">
                <a:solidFill>
                  <a:schemeClr val="tx1"/>
                </a:solidFill>
              </a:rPr>
              <a:t>300)</a:t>
            </a:r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48" y="873211"/>
            <a:ext cx="6678595" cy="260697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874" y="2176696"/>
            <a:ext cx="6678595" cy="263971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854" y="2874642"/>
            <a:ext cx="7045680" cy="274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508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70919" y="123568"/>
            <a:ext cx="10602097" cy="749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</a:rPr>
              <a:t>2025</a:t>
            </a:r>
            <a:r>
              <a:rPr lang="ko-KR" altLang="en-US" smtClean="0">
                <a:solidFill>
                  <a:schemeClr val="tx1"/>
                </a:solidFill>
              </a:rPr>
              <a:t>년 </a:t>
            </a:r>
            <a:r>
              <a:rPr lang="en-US" altLang="ko-KR" smtClean="0">
                <a:solidFill>
                  <a:schemeClr val="tx1"/>
                </a:solidFill>
              </a:rPr>
              <a:t>9</a:t>
            </a:r>
            <a:r>
              <a:rPr lang="ko-KR" altLang="en-US" smtClean="0">
                <a:solidFill>
                  <a:schemeClr val="tx1"/>
                </a:solidFill>
              </a:rPr>
              <a:t>월 </a:t>
            </a:r>
            <a:r>
              <a:rPr lang="en-US" altLang="ko-KR" smtClean="0">
                <a:solidFill>
                  <a:schemeClr val="tx1"/>
                </a:solidFill>
              </a:rPr>
              <a:t>23</a:t>
            </a:r>
            <a:r>
              <a:rPr lang="ko-KR" altLang="en-US" smtClean="0">
                <a:solidFill>
                  <a:schemeClr val="tx1"/>
                </a:solidFill>
              </a:rPr>
              <a:t>일 모델별 미세먼지 예측 비교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100" smtClean="0">
                <a:solidFill>
                  <a:schemeClr val="tx1"/>
                </a:solidFill>
              </a:rPr>
              <a:t>측정소</a:t>
            </a:r>
            <a:r>
              <a:rPr lang="en-US" altLang="ko-KR" sz="1100" smtClean="0">
                <a:solidFill>
                  <a:schemeClr val="tx1"/>
                </a:solidFill>
              </a:rPr>
              <a:t> : </a:t>
            </a:r>
            <a:r>
              <a:rPr lang="en-US" altLang="ko-KR" sz="1100">
                <a:solidFill>
                  <a:schemeClr val="tx1"/>
                </a:solidFill>
              </a:rPr>
              <a:t>"[</a:t>
            </a:r>
            <a:r>
              <a:rPr lang="ko-KR" altLang="en-US" sz="1100">
                <a:solidFill>
                  <a:schemeClr val="tx1"/>
                </a:solidFill>
              </a:rPr>
              <a:t>대전 서구</a:t>
            </a:r>
            <a:r>
              <a:rPr lang="en-US" altLang="ko-KR" sz="1100">
                <a:solidFill>
                  <a:schemeClr val="tx1"/>
                </a:solidFill>
              </a:rPr>
              <a:t>]</a:t>
            </a:r>
            <a:r>
              <a:rPr lang="ko-KR" altLang="en-US" sz="1100">
                <a:solidFill>
                  <a:schemeClr val="tx1"/>
                </a:solidFill>
              </a:rPr>
              <a:t>월평동</a:t>
            </a:r>
            <a:r>
              <a:rPr lang="en-US" altLang="ko-KR" sz="1100">
                <a:solidFill>
                  <a:schemeClr val="tx1"/>
                </a:solidFill>
              </a:rPr>
              <a:t>", "[</a:t>
            </a:r>
            <a:r>
              <a:rPr lang="ko-KR" altLang="en-US" sz="1100">
                <a:solidFill>
                  <a:schemeClr val="tx1"/>
                </a:solidFill>
              </a:rPr>
              <a:t>대전 서구</a:t>
            </a:r>
            <a:r>
              <a:rPr lang="en-US" altLang="ko-KR" sz="1100">
                <a:solidFill>
                  <a:schemeClr val="tx1"/>
                </a:solidFill>
              </a:rPr>
              <a:t>]</a:t>
            </a:r>
            <a:r>
              <a:rPr lang="ko-KR" altLang="en-US" sz="1100">
                <a:solidFill>
                  <a:schemeClr val="tx1"/>
                </a:solidFill>
              </a:rPr>
              <a:t>둔산동</a:t>
            </a:r>
            <a:r>
              <a:rPr lang="en-US" altLang="ko-KR" sz="1100" smtClean="0">
                <a:solidFill>
                  <a:schemeClr val="tx1"/>
                </a:solidFill>
              </a:rPr>
              <a:t>","[</a:t>
            </a:r>
            <a:r>
              <a:rPr lang="ko-KR" altLang="en-US" sz="1100">
                <a:solidFill>
                  <a:schemeClr val="tx1"/>
                </a:solidFill>
              </a:rPr>
              <a:t>충북 청주시</a:t>
            </a:r>
            <a:r>
              <a:rPr lang="en-US" altLang="ko-KR" sz="1100">
                <a:solidFill>
                  <a:schemeClr val="tx1"/>
                </a:solidFill>
              </a:rPr>
              <a:t>]</a:t>
            </a:r>
            <a:r>
              <a:rPr lang="ko-KR" altLang="en-US" sz="1100">
                <a:solidFill>
                  <a:schemeClr val="tx1"/>
                </a:solidFill>
              </a:rPr>
              <a:t>오창읍</a:t>
            </a:r>
            <a:r>
              <a:rPr lang="en-US" altLang="ko-KR" sz="1100">
                <a:solidFill>
                  <a:schemeClr val="tx1"/>
                </a:solidFill>
              </a:rPr>
              <a:t>", "[</a:t>
            </a:r>
            <a:r>
              <a:rPr lang="ko-KR" altLang="en-US" sz="1100">
                <a:solidFill>
                  <a:schemeClr val="tx1"/>
                </a:solidFill>
              </a:rPr>
              <a:t>충북 청주시</a:t>
            </a:r>
            <a:r>
              <a:rPr lang="en-US" altLang="ko-KR" sz="1100">
                <a:solidFill>
                  <a:schemeClr val="tx1"/>
                </a:solidFill>
              </a:rPr>
              <a:t>]</a:t>
            </a:r>
            <a:r>
              <a:rPr lang="ko-KR" altLang="en-US" sz="1100">
                <a:solidFill>
                  <a:schemeClr val="tx1"/>
                </a:solidFill>
              </a:rPr>
              <a:t>봉명동</a:t>
            </a:r>
            <a:r>
              <a:rPr lang="en-US" altLang="ko-KR" sz="1100" smtClean="0">
                <a:solidFill>
                  <a:schemeClr val="tx1"/>
                </a:solidFill>
              </a:rPr>
              <a:t>"</a:t>
            </a:r>
            <a:endParaRPr lang="ko-KR" altLang="en-US" sz="1100">
              <a:solidFill>
                <a:schemeClr val="tx1"/>
              </a:solidFill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919" y="873211"/>
            <a:ext cx="2867425" cy="4001058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664" y="892263"/>
            <a:ext cx="2991267" cy="3982006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762" y="2373636"/>
            <a:ext cx="3134162" cy="3972479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2624" y="1509444"/>
            <a:ext cx="3315163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278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70919" y="123568"/>
            <a:ext cx="10602097" cy="749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</a:rPr>
              <a:t>2025</a:t>
            </a:r>
            <a:r>
              <a:rPr lang="ko-KR" altLang="en-US" smtClean="0">
                <a:solidFill>
                  <a:schemeClr val="tx1"/>
                </a:solidFill>
              </a:rPr>
              <a:t>년 </a:t>
            </a:r>
            <a:r>
              <a:rPr lang="en-US" altLang="ko-KR" smtClean="0">
                <a:solidFill>
                  <a:schemeClr val="tx1"/>
                </a:solidFill>
              </a:rPr>
              <a:t>9</a:t>
            </a:r>
            <a:r>
              <a:rPr lang="ko-KR" altLang="en-US" smtClean="0">
                <a:solidFill>
                  <a:schemeClr val="tx1"/>
                </a:solidFill>
              </a:rPr>
              <a:t>월 </a:t>
            </a:r>
            <a:r>
              <a:rPr lang="en-US" altLang="ko-KR" smtClean="0">
                <a:solidFill>
                  <a:schemeClr val="tx1"/>
                </a:solidFill>
              </a:rPr>
              <a:t>23</a:t>
            </a:r>
            <a:r>
              <a:rPr lang="ko-KR" altLang="en-US" smtClean="0">
                <a:solidFill>
                  <a:schemeClr val="tx1"/>
                </a:solidFill>
              </a:rPr>
              <a:t>일 모델별 미세먼지 예측 비교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100" smtClean="0">
                <a:solidFill>
                  <a:schemeClr val="tx1"/>
                </a:solidFill>
              </a:rPr>
              <a:t>측정소</a:t>
            </a:r>
            <a:r>
              <a:rPr lang="en-US" altLang="ko-KR" sz="1100" smtClean="0">
                <a:solidFill>
                  <a:schemeClr val="tx1"/>
                </a:solidFill>
              </a:rPr>
              <a:t> : </a:t>
            </a:r>
            <a:r>
              <a:rPr lang="en-US" altLang="ko-KR" sz="1100">
                <a:solidFill>
                  <a:schemeClr val="tx1"/>
                </a:solidFill>
              </a:rPr>
              <a:t>"[</a:t>
            </a:r>
            <a:r>
              <a:rPr lang="ko-KR" altLang="en-US" sz="1100">
                <a:solidFill>
                  <a:schemeClr val="tx1"/>
                </a:solidFill>
              </a:rPr>
              <a:t>대전 서구</a:t>
            </a:r>
            <a:r>
              <a:rPr lang="en-US" altLang="ko-KR" sz="1100">
                <a:solidFill>
                  <a:schemeClr val="tx1"/>
                </a:solidFill>
              </a:rPr>
              <a:t>]</a:t>
            </a:r>
            <a:r>
              <a:rPr lang="ko-KR" altLang="en-US" sz="1100">
                <a:solidFill>
                  <a:schemeClr val="tx1"/>
                </a:solidFill>
              </a:rPr>
              <a:t>월평동</a:t>
            </a:r>
            <a:r>
              <a:rPr lang="en-US" altLang="ko-KR" sz="1100">
                <a:solidFill>
                  <a:schemeClr val="tx1"/>
                </a:solidFill>
              </a:rPr>
              <a:t>", "[</a:t>
            </a:r>
            <a:r>
              <a:rPr lang="ko-KR" altLang="en-US" sz="1100">
                <a:solidFill>
                  <a:schemeClr val="tx1"/>
                </a:solidFill>
              </a:rPr>
              <a:t>대전 서구</a:t>
            </a:r>
            <a:r>
              <a:rPr lang="en-US" altLang="ko-KR" sz="1100">
                <a:solidFill>
                  <a:schemeClr val="tx1"/>
                </a:solidFill>
              </a:rPr>
              <a:t>]</a:t>
            </a:r>
            <a:r>
              <a:rPr lang="ko-KR" altLang="en-US" sz="1100">
                <a:solidFill>
                  <a:schemeClr val="tx1"/>
                </a:solidFill>
              </a:rPr>
              <a:t>둔산동</a:t>
            </a:r>
            <a:r>
              <a:rPr lang="en-US" altLang="ko-KR" sz="1100" smtClean="0">
                <a:solidFill>
                  <a:schemeClr val="tx1"/>
                </a:solidFill>
              </a:rPr>
              <a:t>","[</a:t>
            </a:r>
            <a:r>
              <a:rPr lang="ko-KR" altLang="en-US" sz="1100">
                <a:solidFill>
                  <a:schemeClr val="tx1"/>
                </a:solidFill>
              </a:rPr>
              <a:t>충북 청주시</a:t>
            </a:r>
            <a:r>
              <a:rPr lang="en-US" altLang="ko-KR" sz="1100">
                <a:solidFill>
                  <a:schemeClr val="tx1"/>
                </a:solidFill>
              </a:rPr>
              <a:t>]</a:t>
            </a:r>
            <a:r>
              <a:rPr lang="ko-KR" altLang="en-US" sz="1100">
                <a:solidFill>
                  <a:schemeClr val="tx1"/>
                </a:solidFill>
              </a:rPr>
              <a:t>오창읍</a:t>
            </a:r>
            <a:r>
              <a:rPr lang="en-US" altLang="ko-KR" sz="1100">
                <a:solidFill>
                  <a:schemeClr val="tx1"/>
                </a:solidFill>
              </a:rPr>
              <a:t>", "[</a:t>
            </a:r>
            <a:r>
              <a:rPr lang="ko-KR" altLang="en-US" sz="1100">
                <a:solidFill>
                  <a:schemeClr val="tx1"/>
                </a:solidFill>
              </a:rPr>
              <a:t>충북 청주시</a:t>
            </a:r>
            <a:r>
              <a:rPr lang="en-US" altLang="ko-KR" sz="1100">
                <a:solidFill>
                  <a:schemeClr val="tx1"/>
                </a:solidFill>
              </a:rPr>
              <a:t>]</a:t>
            </a:r>
            <a:r>
              <a:rPr lang="ko-KR" altLang="en-US" sz="1100">
                <a:solidFill>
                  <a:schemeClr val="tx1"/>
                </a:solidFill>
              </a:rPr>
              <a:t>봉명동</a:t>
            </a:r>
            <a:r>
              <a:rPr lang="en-US" altLang="ko-KR" sz="1100" smtClean="0">
                <a:solidFill>
                  <a:schemeClr val="tx1"/>
                </a:solidFill>
              </a:rPr>
              <a:t>"</a:t>
            </a:r>
            <a:endParaRPr lang="ko-KR" altLang="en-US" sz="1100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227" y="1060631"/>
            <a:ext cx="5416287" cy="116668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528" y="2377431"/>
            <a:ext cx="9043434" cy="448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478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70919" y="123568"/>
            <a:ext cx="10602097" cy="749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실제 </a:t>
            </a:r>
            <a:r>
              <a:rPr lang="en-US" altLang="ko-KR">
                <a:solidFill>
                  <a:schemeClr val="tx1"/>
                </a:solidFill>
              </a:rPr>
              <a:t>vs </a:t>
            </a:r>
            <a:r>
              <a:rPr lang="ko-KR" altLang="en-US">
                <a:solidFill>
                  <a:schemeClr val="tx1"/>
                </a:solidFill>
              </a:rPr>
              <a:t>예측 </a:t>
            </a:r>
            <a:r>
              <a:rPr lang="en-US" altLang="ko-KR">
                <a:solidFill>
                  <a:schemeClr val="tx1"/>
                </a:solidFill>
              </a:rPr>
              <a:t>(</a:t>
            </a:r>
            <a:r>
              <a:rPr lang="ko-KR" altLang="en-US">
                <a:solidFill>
                  <a:schemeClr val="tx1"/>
                </a:solidFill>
              </a:rPr>
              <a:t>상위 </a:t>
            </a:r>
            <a:r>
              <a:rPr lang="en-US" altLang="ko-KR">
                <a:solidFill>
                  <a:schemeClr val="tx1"/>
                </a:solidFill>
              </a:rPr>
              <a:t>200</a:t>
            </a:r>
            <a:r>
              <a:rPr lang="ko-KR" altLang="en-US">
                <a:solidFill>
                  <a:schemeClr val="tx1"/>
                </a:solidFill>
              </a:rPr>
              <a:t>시간</a:t>
            </a:r>
            <a:r>
              <a:rPr lang="en-US" altLang="ko-KR">
                <a:solidFill>
                  <a:schemeClr val="tx1"/>
                </a:solidFill>
              </a:rPr>
              <a:t>)</a:t>
            </a:r>
            <a:endParaRPr lang="ko-KR" altLang="en-US">
              <a:solidFill>
                <a:schemeClr val="tx1"/>
              </a:solidFill>
            </a:endParaRPr>
          </a:p>
          <a:p>
            <a:pPr algn="ctr"/>
            <a:r>
              <a:rPr lang="ko-KR" altLang="en-US" sz="1100" smtClean="0">
                <a:solidFill>
                  <a:schemeClr val="tx1"/>
                </a:solidFill>
              </a:rPr>
              <a:t>측정소</a:t>
            </a:r>
            <a:r>
              <a:rPr lang="en-US" altLang="ko-KR" sz="1100" smtClean="0">
                <a:solidFill>
                  <a:schemeClr val="tx1"/>
                </a:solidFill>
              </a:rPr>
              <a:t> : </a:t>
            </a:r>
            <a:r>
              <a:rPr lang="en-US" altLang="ko-KR" sz="1100">
                <a:solidFill>
                  <a:schemeClr val="tx1"/>
                </a:solidFill>
              </a:rPr>
              <a:t>[</a:t>
            </a:r>
            <a:r>
              <a:rPr lang="ko-KR" altLang="en-US" sz="1100">
                <a:solidFill>
                  <a:schemeClr val="tx1"/>
                </a:solidFill>
              </a:rPr>
              <a:t>대전 서구</a:t>
            </a:r>
            <a:r>
              <a:rPr lang="en-US" altLang="ko-KR" sz="1100">
                <a:solidFill>
                  <a:schemeClr val="tx1"/>
                </a:solidFill>
              </a:rPr>
              <a:t>]</a:t>
            </a:r>
            <a:r>
              <a:rPr lang="ko-KR" altLang="en-US" sz="1100" smtClean="0">
                <a:solidFill>
                  <a:schemeClr val="tx1"/>
                </a:solidFill>
              </a:rPr>
              <a:t>둔산동</a:t>
            </a:r>
            <a:endParaRPr lang="ko-KR" altLang="en-US" sz="1100">
              <a:solidFill>
                <a:schemeClr val="tx1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09" y="953937"/>
            <a:ext cx="10881382" cy="356616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618" y="2033094"/>
            <a:ext cx="10881382" cy="356616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39" y="3428999"/>
            <a:ext cx="10881382" cy="356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90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70919" y="123568"/>
            <a:ext cx="10602097" cy="749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rgbClr val="FF0000"/>
                </a:solidFill>
              </a:rPr>
              <a:t>*추가</a:t>
            </a:r>
            <a:endParaRPr lang="en-US" altLang="ko-KR" smtClean="0">
              <a:solidFill>
                <a:srgbClr val="FF0000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신경망 기반 회귀모델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070919" y="1029730"/>
            <a:ext cx="10602097" cy="12027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smtClean="0">
                <a:solidFill>
                  <a:schemeClr val="tx1"/>
                </a:solidFill>
              </a:rPr>
              <a:t>사용모델 </a:t>
            </a:r>
            <a:r>
              <a:rPr lang="en-US" altLang="ko-KR" sz="800" smtClean="0">
                <a:solidFill>
                  <a:schemeClr val="tx1"/>
                </a:solidFill>
              </a:rPr>
              <a:t>: sklearn.neural_network.MLPRegressor</a:t>
            </a:r>
            <a:endParaRPr lang="en-US" altLang="ko-KR" sz="800">
              <a:solidFill>
                <a:schemeClr val="tx1"/>
              </a:solidFill>
            </a:endParaRPr>
          </a:p>
          <a:p>
            <a:endParaRPr lang="en-US" altLang="ko-KR" sz="800">
              <a:solidFill>
                <a:schemeClr val="tx1"/>
              </a:solidFill>
            </a:endParaRPr>
          </a:p>
          <a:p>
            <a:r>
              <a:rPr lang="ko-KR" altLang="en-US" sz="800">
                <a:solidFill>
                  <a:schemeClr val="tx1"/>
                </a:solidFill>
              </a:rPr>
              <a:t>구조</a:t>
            </a:r>
            <a:r>
              <a:rPr lang="en-US" altLang="ko-KR" sz="80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800">
                <a:solidFill>
                  <a:schemeClr val="tx1"/>
                </a:solidFill>
              </a:rPr>
              <a:t>은닉층 </a:t>
            </a:r>
            <a:r>
              <a:rPr lang="en-US" altLang="ko-KR" sz="800">
                <a:solidFill>
                  <a:schemeClr val="tx1"/>
                </a:solidFill>
              </a:rPr>
              <a:t>2</a:t>
            </a:r>
            <a:r>
              <a:rPr lang="ko-KR" altLang="en-US" sz="800">
                <a:solidFill>
                  <a:schemeClr val="tx1"/>
                </a:solidFill>
              </a:rPr>
              <a:t>개</a:t>
            </a:r>
          </a:p>
          <a:p>
            <a:r>
              <a:rPr lang="ko-KR" altLang="en-US" sz="800">
                <a:solidFill>
                  <a:schemeClr val="tx1"/>
                </a:solidFill>
              </a:rPr>
              <a:t>각 층 </a:t>
            </a:r>
            <a:r>
              <a:rPr lang="en-US" altLang="ko-KR" sz="800">
                <a:solidFill>
                  <a:schemeClr val="tx1"/>
                </a:solidFill>
              </a:rPr>
              <a:t>64 </a:t>
            </a:r>
            <a:r>
              <a:rPr lang="ko-KR" altLang="en-US" sz="800">
                <a:solidFill>
                  <a:schemeClr val="tx1"/>
                </a:solidFill>
              </a:rPr>
              <a:t>노드</a:t>
            </a:r>
          </a:p>
          <a:p>
            <a:r>
              <a:rPr lang="ko-KR" altLang="en-US" sz="800">
                <a:solidFill>
                  <a:schemeClr val="tx1"/>
                </a:solidFill>
              </a:rPr>
              <a:t>활성함수 </a:t>
            </a:r>
            <a:r>
              <a:rPr lang="en-US" altLang="ko-KR" sz="800">
                <a:solidFill>
                  <a:schemeClr val="tx1"/>
                </a:solidFill>
              </a:rPr>
              <a:t>ReLU</a:t>
            </a:r>
          </a:p>
          <a:p>
            <a:r>
              <a:rPr lang="en-US" altLang="ko-KR" sz="800">
                <a:solidFill>
                  <a:schemeClr val="tx1"/>
                </a:solidFill>
              </a:rPr>
              <a:t>Adam </a:t>
            </a:r>
            <a:r>
              <a:rPr lang="ko-KR" altLang="en-US" sz="800">
                <a:solidFill>
                  <a:schemeClr val="tx1"/>
                </a:solidFill>
              </a:rPr>
              <a:t>옵티마이저</a:t>
            </a:r>
          </a:p>
          <a:p>
            <a:r>
              <a:rPr lang="en-US" altLang="ko-KR" sz="800">
                <a:solidFill>
                  <a:schemeClr val="tx1"/>
                </a:solidFill>
              </a:rPr>
              <a:t>early_stopping </a:t>
            </a:r>
            <a:r>
              <a:rPr lang="ko-KR" altLang="en-US" sz="800">
                <a:solidFill>
                  <a:schemeClr val="tx1"/>
                </a:solidFill>
              </a:rPr>
              <a:t>사용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919" y="2388973"/>
            <a:ext cx="2265505" cy="342329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1740" y="2232454"/>
            <a:ext cx="6671259" cy="325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500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70919" y="123568"/>
            <a:ext cx="10602097" cy="749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rgbClr val="FF0000"/>
                </a:solidFill>
              </a:rPr>
              <a:t>*추가</a:t>
            </a:r>
            <a:endParaRPr lang="en-US" altLang="ko-KR" smtClean="0">
              <a:solidFill>
                <a:srgbClr val="FF0000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신경망 기반 회귀모델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070919" y="1029730"/>
            <a:ext cx="10602097" cy="12027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smtClean="0">
                <a:solidFill>
                  <a:schemeClr val="tx1"/>
                </a:solidFill>
              </a:rPr>
              <a:t>사용모델 </a:t>
            </a:r>
            <a:r>
              <a:rPr lang="en-US" altLang="ko-KR" sz="800" smtClean="0">
                <a:solidFill>
                  <a:schemeClr val="tx1"/>
                </a:solidFill>
              </a:rPr>
              <a:t>: sklearn.neural_network.MLPRegressor</a:t>
            </a:r>
            <a:endParaRPr lang="en-US" altLang="ko-KR" sz="800">
              <a:solidFill>
                <a:schemeClr val="tx1"/>
              </a:solidFill>
            </a:endParaRPr>
          </a:p>
          <a:p>
            <a:endParaRPr lang="en-US" altLang="ko-KR" sz="800">
              <a:solidFill>
                <a:schemeClr val="tx1"/>
              </a:solidFill>
            </a:endParaRPr>
          </a:p>
          <a:p>
            <a:r>
              <a:rPr lang="ko-KR" altLang="en-US" sz="800">
                <a:solidFill>
                  <a:schemeClr val="tx1"/>
                </a:solidFill>
              </a:rPr>
              <a:t>구조</a:t>
            </a:r>
            <a:r>
              <a:rPr lang="en-US" altLang="ko-KR" sz="80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800">
                <a:solidFill>
                  <a:schemeClr val="tx1"/>
                </a:solidFill>
              </a:rPr>
              <a:t>은닉층 </a:t>
            </a:r>
            <a:r>
              <a:rPr lang="en-US" altLang="ko-KR" sz="800">
                <a:solidFill>
                  <a:schemeClr val="tx1"/>
                </a:solidFill>
              </a:rPr>
              <a:t>2</a:t>
            </a:r>
            <a:r>
              <a:rPr lang="ko-KR" altLang="en-US" sz="800">
                <a:solidFill>
                  <a:schemeClr val="tx1"/>
                </a:solidFill>
              </a:rPr>
              <a:t>개</a:t>
            </a:r>
          </a:p>
          <a:p>
            <a:r>
              <a:rPr lang="ko-KR" altLang="en-US" sz="800">
                <a:solidFill>
                  <a:schemeClr val="tx1"/>
                </a:solidFill>
              </a:rPr>
              <a:t>각 층 </a:t>
            </a:r>
            <a:r>
              <a:rPr lang="en-US" altLang="ko-KR" sz="800">
                <a:solidFill>
                  <a:schemeClr val="tx1"/>
                </a:solidFill>
              </a:rPr>
              <a:t>64 </a:t>
            </a:r>
            <a:r>
              <a:rPr lang="ko-KR" altLang="en-US" sz="800">
                <a:solidFill>
                  <a:schemeClr val="tx1"/>
                </a:solidFill>
              </a:rPr>
              <a:t>노드</a:t>
            </a:r>
          </a:p>
          <a:p>
            <a:r>
              <a:rPr lang="ko-KR" altLang="en-US" sz="800">
                <a:solidFill>
                  <a:schemeClr val="tx1"/>
                </a:solidFill>
              </a:rPr>
              <a:t>활성함수 </a:t>
            </a:r>
            <a:r>
              <a:rPr lang="en-US" altLang="ko-KR" sz="800">
                <a:solidFill>
                  <a:schemeClr val="tx1"/>
                </a:solidFill>
              </a:rPr>
              <a:t>ReLU</a:t>
            </a:r>
          </a:p>
          <a:p>
            <a:r>
              <a:rPr lang="en-US" altLang="ko-KR" sz="800">
                <a:solidFill>
                  <a:schemeClr val="tx1"/>
                </a:solidFill>
              </a:rPr>
              <a:t>Adam </a:t>
            </a:r>
            <a:r>
              <a:rPr lang="ko-KR" altLang="en-US" sz="800">
                <a:solidFill>
                  <a:schemeClr val="tx1"/>
                </a:solidFill>
              </a:rPr>
              <a:t>옵티마이저</a:t>
            </a:r>
          </a:p>
          <a:p>
            <a:r>
              <a:rPr lang="en-US" altLang="ko-KR" sz="800">
                <a:solidFill>
                  <a:schemeClr val="tx1"/>
                </a:solidFill>
              </a:rPr>
              <a:t>early_stopping </a:t>
            </a:r>
            <a:r>
              <a:rPr lang="ko-KR" altLang="en-US" sz="800">
                <a:solidFill>
                  <a:schemeClr val="tx1"/>
                </a:solidFill>
              </a:rPr>
              <a:t>사용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11" y="2388973"/>
            <a:ext cx="10881382" cy="356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053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70919" y="123568"/>
            <a:ext cx="10602097" cy="749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rgbClr val="FF0000"/>
                </a:solidFill>
              </a:rPr>
              <a:t>*추가</a:t>
            </a:r>
            <a:endParaRPr lang="en-US" altLang="ko-KR" smtClean="0">
              <a:solidFill>
                <a:srgbClr val="FF0000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신경망 기반 회귀모델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070919" y="1029730"/>
            <a:ext cx="10602097" cy="12027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1"/>
                </a:solidFill>
              </a:rPr>
              <a:t>MLPRegressor(2×64)</a:t>
            </a:r>
            <a:r>
              <a:rPr lang="en-US" altLang="ko-KR" sz="800">
                <a:solidFill>
                  <a:schemeClr val="tx1"/>
                </a:solidFill>
              </a:rPr>
              <a:t>(</a:t>
            </a:r>
            <a:r>
              <a:rPr lang="ko-KR" altLang="en-US" sz="800">
                <a:solidFill>
                  <a:schemeClr val="tx1"/>
                </a:solidFill>
              </a:rPr>
              <a:t>신경망 모델</a:t>
            </a:r>
            <a:r>
              <a:rPr lang="en-US" altLang="ko-KR" sz="800">
                <a:solidFill>
                  <a:schemeClr val="tx1"/>
                </a:solidFill>
              </a:rPr>
              <a:t>)</a:t>
            </a:r>
            <a:r>
              <a:rPr lang="ko-KR" altLang="en-US" sz="800" smtClean="0">
                <a:solidFill>
                  <a:schemeClr val="tx1"/>
                </a:solidFill>
              </a:rPr>
              <a:t>은 모든 </a:t>
            </a:r>
            <a:r>
              <a:rPr lang="ko-KR" altLang="en-US" sz="800">
                <a:solidFill>
                  <a:schemeClr val="tx1"/>
                </a:solidFill>
              </a:rPr>
              <a:t>지역에서 </a:t>
            </a:r>
            <a:r>
              <a:rPr lang="ko-KR" altLang="en-US" sz="800" b="1">
                <a:solidFill>
                  <a:schemeClr val="tx1"/>
                </a:solidFill>
              </a:rPr>
              <a:t>가장 낮은 </a:t>
            </a:r>
            <a:r>
              <a:rPr lang="en-US" altLang="ko-KR" sz="800" b="1">
                <a:solidFill>
                  <a:schemeClr val="tx1"/>
                </a:solidFill>
              </a:rPr>
              <a:t>RMSE</a:t>
            </a:r>
            <a:r>
              <a:rPr lang="ko-KR" altLang="en-US" sz="800">
                <a:solidFill>
                  <a:schemeClr val="tx1"/>
                </a:solidFill>
              </a:rPr>
              <a:t>를 기록하며 최상위 </a:t>
            </a:r>
            <a:r>
              <a:rPr lang="ko-KR" altLang="en-US" sz="800">
                <a:solidFill>
                  <a:schemeClr val="tx1"/>
                </a:solidFill>
              </a:rPr>
              <a:t>성능을 </a:t>
            </a:r>
            <a:r>
              <a:rPr lang="ko-KR" altLang="en-US" sz="800" smtClean="0">
                <a:solidFill>
                  <a:schemeClr val="tx1"/>
                </a:solidFill>
              </a:rPr>
              <a:t>달성</a:t>
            </a:r>
            <a:endParaRPr lang="en-US" altLang="ko-KR" sz="800" smtClean="0">
              <a:solidFill>
                <a:schemeClr val="tx1"/>
              </a:solidFill>
            </a:endParaRPr>
          </a:p>
          <a:p>
            <a:r>
              <a:rPr lang="ko-KR" altLang="en-US" sz="800">
                <a:solidFill>
                  <a:schemeClr val="tx1"/>
                </a:solidFill>
              </a:rPr>
              <a:t>다만</a:t>
            </a:r>
            <a:r>
              <a:rPr lang="en-US" altLang="ko-KR" sz="800">
                <a:solidFill>
                  <a:schemeClr val="tx1"/>
                </a:solidFill>
              </a:rPr>
              <a:t>, MLP</a:t>
            </a:r>
            <a:r>
              <a:rPr lang="ko-KR" altLang="en-US" sz="800">
                <a:solidFill>
                  <a:schemeClr val="tx1"/>
                </a:solidFill>
              </a:rPr>
              <a:t>는 학습 시간이 더 길고 구조가 복잡하며 과적합 위험성을 가진다는 </a:t>
            </a:r>
            <a:r>
              <a:rPr lang="ko-KR" altLang="en-US" sz="800">
                <a:solidFill>
                  <a:schemeClr val="tx1"/>
                </a:solidFill>
              </a:rPr>
              <a:t>점에서</a:t>
            </a:r>
            <a:r>
              <a:rPr lang="en-US" altLang="ko-KR" sz="800" smtClean="0">
                <a:solidFill>
                  <a:schemeClr val="tx1"/>
                </a:solidFill>
              </a:rPr>
              <a:t>, </a:t>
            </a:r>
            <a:r>
              <a:rPr lang="ko-KR" altLang="en-US" sz="800" smtClean="0">
                <a:solidFill>
                  <a:schemeClr val="tx1"/>
                </a:solidFill>
              </a:rPr>
              <a:t>선형 </a:t>
            </a:r>
            <a:r>
              <a:rPr lang="ko-KR" altLang="en-US" sz="800">
                <a:solidFill>
                  <a:schemeClr val="tx1"/>
                </a:solidFill>
              </a:rPr>
              <a:t>모델 </a:t>
            </a:r>
            <a:r>
              <a:rPr lang="ko-KR" altLang="en-US" sz="800">
                <a:solidFill>
                  <a:schemeClr val="tx1"/>
                </a:solidFill>
              </a:rPr>
              <a:t>대비 </a:t>
            </a:r>
            <a:r>
              <a:rPr lang="ko-KR" altLang="en-US" sz="800" smtClean="0">
                <a:solidFill>
                  <a:schemeClr val="tx1"/>
                </a:solidFill>
              </a:rPr>
              <a:t>실용성에 대해 </a:t>
            </a:r>
            <a:r>
              <a:rPr lang="ko-KR" altLang="en-US" sz="800">
                <a:solidFill>
                  <a:schemeClr val="tx1"/>
                </a:solidFill>
              </a:rPr>
              <a:t>판단할 </a:t>
            </a:r>
            <a:r>
              <a:rPr lang="ko-KR" altLang="en-US" sz="800" smtClean="0">
                <a:solidFill>
                  <a:schemeClr val="tx1"/>
                </a:solidFill>
              </a:rPr>
              <a:t>필요</a:t>
            </a:r>
            <a:endParaRPr lang="en-US" altLang="ko-KR" sz="800" smtClean="0">
              <a:solidFill>
                <a:schemeClr val="tx1"/>
              </a:solidFill>
            </a:endParaRPr>
          </a:p>
          <a:p>
            <a:r>
              <a:rPr lang="ko-KR" altLang="en-US" sz="800">
                <a:solidFill>
                  <a:schemeClr val="tx1"/>
                </a:solidFill>
              </a:rPr>
              <a:t>하지만 이번 실험에서는 데이터가 충분히 크고 전처리가 </a:t>
            </a:r>
            <a:r>
              <a:rPr lang="ko-KR" altLang="en-US" sz="800">
                <a:solidFill>
                  <a:schemeClr val="tx1"/>
                </a:solidFill>
              </a:rPr>
              <a:t>잘 </a:t>
            </a:r>
            <a:r>
              <a:rPr lang="ko-KR" altLang="en-US" sz="800" smtClean="0">
                <a:solidFill>
                  <a:schemeClr val="tx1"/>
                </a:solidFill>
              </a:rPr>
              <a:t>이루어져 </a:t>
            </a:r>
            <a:r>
              <a:rPr lang="en-US" altLang="ko-KR" sz="800" smtClean="0">
                <a:solidFill>
                  <a:schemeClr val="tx1"/>
                </a:solidFill>
              </a:rPr>
              <a:t>MLP</a:t>
            </a:r>
            <a:r>
              <a:rPr lang="ko-KR" altLang="en-US" sz="800">
                <a:solidFill>
                  <a:schemeClr val="tx1"/>
                </a:solidFill>
              </a:rPr>
              <a:t>가 가장 </a:t>
            </a:r>
            <a:r>
              <a:rPr lang="ko-KR" altLang="en-US" sz="800">
                <a:solidFill>
                  <a:schemeClr val="tx1"/>
                </a:solidFill>
              </a:rPr>
              <a:t>우수한 </a:t>
            </a:r>
            <a:r>
              <a:rPr lang="ko-KR" altLang="en-US" sz="800" smtClean="0">
                <a:solidFill>
                  <a:schemeClr val="tx1"/>
                </a:solidFill>
              </a:rPr>
              <a:t>결과 도출</a:t>
            </a:r>
            <a:endParaRPr lang="en-US" altLang="ko-KR" sz="800" smtClean="0">
              <a:solidFill>
                <a:schemeClr val="tx1"/>
              </a:solidFill>
            </a:endParaRPr>
          </a:p>
          <a:p>
            <a:endParaRPr lang="en-US" altLang="ko-KR" sz="800">
              <a:solidFill>
                <a:schemeClr val="tx1"/>
              </a:solidFill>
            </a:endParaRPr>
          </a:p>
          <a:p>
            <a:r>
              <a:rPr lang="ko-KR" altLang="en-US" sz="800">
                <a:solidFill>
                  <a:schemeClr val="tx1"/>
                </a:solidFill>
              </a:rPr>
              <a:t>선형 모델은 안정적이지만</a:t>
            </a:r>
            <a:r>
              <a:rPr lang="en-US" altLang="ko-KR" sz="800">
                <a:solidFill>
                  <a:schemeClr val="tx1"/>
                </a:solidFill>
              </a:rPr>
              <a:t>, MLP</a:t>
            </a:r>
            <a:r>
              <a:rPr lang="ko-KR" altLang="en-US" sz="800">
                <a:solidFill>
                  <a:schemeClr val="tx1"/>
                </a:solidFill>
              </a:rPr>
              <a:t>는 지역별 미세먼지의 비선형적 패턴까지 포착하여 최저 </a:t>
            </a:r>
            <a:r>
              <a:rPr lang="en-US" altLang="ko-KR" sz="800">
                <a:solidFill>
                  <a:schemeClr val="tx1"/>
                </a:solidFill>
              </a:rPr>
              <a:t>RMSE</a:t>
            </a:r>
            <a:r>
              <a:rPr lang="ko-KR" altLang="en-US" sz="800">
                <a:solidFill>
                  <a:schemeClr val="tx1"/>
                </a:solidFill>
              </a:rPr>
              <a:t>를 달성하며 가장 뛰어난 예측 </a:t>
            </a:r>
            <a:r>
              <a:rPr lang="ko-KR" altLang="en-US" sz="800">
                <a:solidFill>
                  <a:schemeClr val="tx1"/>
                </a:solidFill>
              </a:rPr>
              <a:t>성능을 </a:t>
            </a:r>
            <a:r>
              <a:rPr lang="ko-KR" altLang="en-US" sz="800" smtClean="0">
                <a:solidFill>
                  <a:schemeClr val="tx1"/>
                </a:solidFill>
              </a:rPr>
              <a:t>보임</a:t>
            </a:r>
            <a:endParaRPr lang="en-US" altLang="ko-KR" sz="800" smtClean="0">
              <a:solidFill>
                <a:schemeClr val="tx1"/>
              </a:solidFill>
            </a:endParaRPr>
          </a:p>
          <a:p>
            <a:r>
              <a:rPr lang="ko-KR" altLang="en-US" sz="800">
                <a:solidFill>
                  <a:schemeClr val="tx1"/>
                </a:solidFill>
              </a:rPr>
              <a:t>선형 모델은 변화폭이 갑자기 튀는 구간을 </a:t>
            </a:r>
            <a:r>
              <a:rPr lang="ko-KR" altLang="en-US" sz="800">
                <a:solidFill>
                  <a:schemeClr val="tx1"/>
                </a:solidFill>
              </a:rPr>
              <a:t>따라가기 </a:t>
            </a:r>
            <a:r>
              <a:rPr lang="ko-KR" altLang="en-US" sz="800" smtClean="0">
                <a:solidFill>
                  <a:schemeClr val="tx1"/>
                </a:solidFill>
              </a:rPr>
              <a:t>어려우나 </a:t>
            </a:r>
            <a:r>
              <a:rPr lang="en-US" altLang="ko-KR" sz="800" smtClean="0">
                <a:solidFill>
                  <a:schemeClr val="tx1"/>
                </a:solidFill>
              </a:rPr>
              <a:t>MLP</a:t>
            </a:r>
            <a:r>
              <a:rPr lang="ko-KR" altLang="en-US" sz="800">
                <a:solidFill>
                  <a:schemeClr val="tx1"/>
                </a:solidFill>
              </a:rPr>
              <a:t>는 일부 더 잘 포착</a:t>
            </a:r>
            <a:endParaRPr lang="ko-KR" altLang="en-US" sz="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405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813</Words>
  <Application>Microsoft Office PowerPoint</Application>
  <PresentationFormat>와이드스크린</PresentationFormat>
  <Paragraphs>131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선형회귀모델 비교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선형회귀모델 비교</dc:title>
  <dc:creator>추연교</dc:creator>
  <cp:lastModifiedBy>추연교</cp:lastModifiedBy>
  <cp:revision>8</cp:revision>
  <dcterms:created xsi:type="dcterms:W3CDTF">2025-12-07T09:40:22Z</dcterms:created>
  <dcterms:modified xsi:type="dcterms:W3CDTF">2025-12-07T13:18:24Z</dcterms:modified>
</cp:coreProperties>
</file>